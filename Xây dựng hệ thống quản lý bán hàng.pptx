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rial" panose="020B0604020202020204" pitchFamily="34" charset="0"/>
      <p:regular r:id="rId23"/>
    </p:embeddedFont>
    <p:embeddedFont>
      <p:font typeface="Arial Bold" panose="020B0704020202020204" pitchFamily="34" charset="0"/>
      <p:regular r:id="rId24"/>
      <p:bold r:id="rId25"/>
    </p:embeddedFont>
    <p:embeddedFont>
      <p:font typeface="Arial Italics" panose="020B0604020202020204" charset="0"/>
      <p:regular r:id="rId26"/>
    </p:embeddedFont>
    <p:embeddedFont>
      <p:font typeface="Calibri" panose="020F0502020204030204" pitchFamily="3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319"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3456651" y="3466490"/>
            <a:ext cx="12276685" cy="3441854"/>
          </a:xfrm>
          <a:prstGeom prst="rect">
            <a:avLst/>
          </a:prstGeom>
        </p:spPr>
        <p:txBody>
          <a:bodyPr lIns="0" tIns="0" rIns="0" bIns="0" rtlCol="0" anchor="t">
            <a:spAutoFit/>
          </a:bodyPr>
          <a:lstStyle/>
          <a:p>
            <a:pPr algn="ctr">
              <a:lnSpc>
                <a:spcPts val="13647"/>
              </a:lnSpc>
            </a:pPr>
            <a:r>
              <a:rPr lang="en-US" sz="9748" b="1">
                <a:solidFill>
                  <a:srgbClr val="DC2323"/>
                </a:solidFill>
                <a:latin typeface="Arial Bold"/>
                <a:ea typeface="Arial Bold"/>
                <a:cs typeface="Arial Bold"/>
                <a:sym typeface="Arial Bold"/>
              </a:rPr>
              <a:t>Xây dựng hệ thống</a:t>
            </a:r>
          </a:p>
          <a:p>
            <a:pPr algn="ctr">
              <a:lnSpc>
                <a:spcPts val="13647"/>
              </a:lnSpc>
              <a:spcBef>
                <a:spcPct val="0"/>
              </a:spcBef>
            </a:pPr>
            <a:r>
              <a:rPr lang="en-US" sz="9748" b="1">
                <a:solidFill>
                  <a:srgbClr val="DC2323"/>
                </a:solidFill>
                <a:latin typeface="Arial Bold"/>
                <a:ea typeface="Arial Bold"/>
                <a:cs typeface="Arial Bold"/>
                <a:sym typeface="Arial Bold"/>
              </a:rPr>
              <a:t>quản lý bán hàng</a:t>
            </a:r>
          </a:p>
        </p:txBody>
      </p:sp>
      <p:sp>
        <p:nvSpPr>
          <p:cNvPr id="5" name="TextBox 5"/>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6" name="TextBox 6"/>
          <p:cNvSpPr txBox="1"/>
          <p:nvPr/>
        </p:nvSpPr>
        <p:spPr>
          <a:xfrm>
            <a:off x="2636577" y="2180305"/>
            <a:ext cx="13916833" cy="881892"/>
          </a:xfrm>
          <a:prstGeom prst="rect">
            <a:avLst/>
          </a:prstGeom>
        </p:spPr>
        <p:txBody>
          <a:bodyPr lIns="0" tIns="0" rIns="0" bIns="0" rtlCol="0" anchor="t">
            <a:spAutoFit/>
          </a:bodyPr>
          <a:lstStyle/>
          <a:p>
            <a:pPr algn="ctr">
              <a:lnSpc>
                <a:spcPts val="7041"/>
              </a:lnSpc>
              <a:spcBef>
                <a:spcPct val="0"/>
              </a:spcBef>
            </a:pPr>
            <a:r>
              <a:rPr lang="en-US" sz="5029" b="1">
                <a:solidFill>
                  <a:srgbClr val="053484"/>
                </a:solidFill>
                <a:latin typeface="Arial Bold"/>
                <a:ea typeface="Arial Bold"/>
                <a:cs typeface="Arial Bold"/>
                <a:sym typeface="Arial Bold"/>
              </a:rPr>
              <a:t>BÁO CÁO THỰC TẬP ĐỒ ÁN CƠ SỞ NGÀNH</a:t>
            </a:r>
          </a:p>
        </p:txBody>
      </p:sp>
      <p:sp>
        <p:nvSpPr>
          <p:cNvPr id="7" name="TextBox 7"/>
          <p:cNvSpPr txBox="1"/>
          <p:nvPr/>
        </p:nvSpPr>
        <p:spPr>
          <a:xfrm>
            <a:off x="3055307" y="7517944"/>
            <a:ext cx="13079374" cy="674246"/>
          </a:xfrm>
          <a:prstGeom prst="rect">
            <a:avLst/>
          </a:prstGeom>
        </p:spPr>
        <p:txBody>
          <a:bodyPr lIns="0" tIns="0" rIns="0" bIns="0" rtlCol="0" anchor="t">
            <a:spAutoFit/>
          </a:bodyPr>
          <a:lstStyle/>
          <a:p>
            <a:pPr algn="ctr">
              <a:lnSpc>
                <a:spcPts val="5361"/>
              </a:lnSpc>
              <a:spcBef>
                <a:spcPct val="0"/>
              </a:spcBef>
            </a:pPr>
            <a:r>
              <a:rPr lang="en-US" sz="3829" b="1">
                <a:solidFill>
                  <a:srgbClr val="053484"/>
                </a:solidFill>
                <a:latin typeface="Arial Bold"/>
                <a:ea typeface="Arial Bold"/>
                <a:cs typeface="Arial Bold"/>
                <a:sym typeface="Arial Bold"/>
              </a:rPr>
              <a:t>Giáo viên hướng dẫn: ThS. Nguyễn Hoàng Duy Thiện</a:t>
            </a:r>
          </a:p>
        </p:txBody>
      </p:sp>
      <p:sp>
        <p:nvSpPr>
          <p:cNvPr id="8" name="TextBox 8"/>
          <p:cNvSpPr txBox="1"/>
          <p:nvPr/>
        </p:nvSpPr>
        <p:spPr>
          <a:xfrm>
            <a:off x="3531509" y="8340497"/>
            <a:ext cx="12126970" cy="674246"/>
          </a:xfrm>
          <a:prstGeom prst="rect">
            <a:avLst/>
          </a:prstGeom>
        </p:spPr>
        <p:txBody>
          <a:bodyPr lIns="0" tIns="0" rIns="0" bIns="0" rtlCol="0" anchor="t">
            <a:spAutoFit/>
          </a:bodyPr>
          <a:lstStyle/>
          <a:p>
            <a:pPr algn="ctr">
              <a:lnSpc>
                <a:spcPts val="5361"/>
              </a:lnSpc>
              <a:spcBef>
                <a:spcPct val="0"/>
              </a:spcBef>
            </a:pPr>
            <a:r>
              <a:rPr lang="en-US" sz="3829" b="1">
                <a:solidFill>
                  <a:srgbClr val="053484"/>
                </a:solidFill>
                <a:latin typeface="Arial Bold"/>
                <a:ea typeface="Arial Bold"/>
                <a:cs typeface="Arial Bold"/>
                <a:sym typeface="Arial Bold"/>
              </a:rPr>
              <a:t>Sinh viên thực hiện: Phạm Minh Nhựt - 110123252</a:t>
            </a:r>
          </a:p>
        </p:txBody>
      </p:sp>
      <p:sp>
        <p:nvSpPr>
          <p:cNvPr id="9" name="TextBox 9"/>
          <p:cNvSpPr txBox="1"/>
          <p:nvPr/>
        </p:nvSpPr>
        <p:spPr>
          <a:xfrm>
            <a:off x="6897763" y="9163050"/>
            <a:ext cx="5394461" cy="674246"/>
          </a:xfrm>
          <a:prstGeom prst="rect">
            <a:avLst/>
          </a:prstGeom>
        </p:spPr>
        <p:txBody>
          <a:bodyPr lIns="0" tIns="0" rIns="0" bIns="0" rtlCol="0" anchor="t">
            <a:spAutoFit/>
          </a:bodyPr>
          <a:lstStyle/>
          <a:p>
            <a:pPr algn="ctr">
              <a:lnSpc>
                <a:spcPts val="5361"/>
              </a:lnSpc>
              <a:spcBef>
                <a:spcPct val="0"/>
              </a:spcBef>
            </a:pPr>
            <a:r>
              <a:rPr lang="en-US" sz="3829" b="1">
                <a:solidFill>
                  <a:srgbClr val="053484"/>
                </a:solidFill>
                <a:latin typeface="Arial Bold"/>
                <a:ea typeface="Arial Bold"/>
                <a:cs typeface="Arial Bold"/>
                <a:sym typeface="Arial Bold"/>
              </a:rPr>
              <a:t>Lớp: DA23TTC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0" y="1619089"/>
            <a:ext cx="6334428" cy="731520"/>
          </a:xfrm>
          <a:prstGeom prst="rect">
            <a:avLst/>
          </a:prstGeom>
        </p:spPr>
        <p:txBody>
          <a:bodyPr lIns="0" tIns="0" rIns="0" bIns="0" rtlCol="0" anchor="t">
            <a:spAutoFit/>
          </a:bodyPr>
          <a:lstStyle/>
          <a:p>
            <a:pPr algn="ctr">
              <a:lnSpc>
                <a:spcPts val="5880"/>
              </a:lnSpc>
              <a:spcBef>
                <a:spcPct val="0"/>
              </a:spcBef>
            </a:pPr>
            <a:r>
              <a:rPr lang="en-US" sz="4200" b="1">
                <a:solidFill>
                  <a:srgbClr val="DC2323"/>
                </a:solidFill>
                <a:latin typeface="Arial Bold"/>
                <a:ea typeface="Arial Bold"/>
                <a:cs typeface="Arial Bold"/>
                <a:sym typeface="Arial Bold"/>
              </a:rPr>
              <a:t>NỘI DUNG TRÌNH BÀY</a:t>
            </a:r>
          </a:p>
        </p:txBody>
      </p:sp>
      <p:sp>
        <p:nvSpPr>
          <p:cNvPr id="6" name="TextBox 6"/>
          <p:cNvSpPr txBox="1"/>
          <p:nvPr/>
        </p:nvSpPr>
        <p:spPr>
          <a:xfrm>
            <a:off x="381000" y="2544382"/>
            <a:ext cx="11230386" cy="7029449"/>
          </a:xfrm>
          <a:prstGeom prst="rect">
            <a:avLst/>
          </a:prstGeom>
        </p:spPr>
        <p:txBody>
          <a:bodyPr lIns="0" tIns="0" rIns="0" bIns="0" rtlCol="0" anchor="t">
            <a:spAutoFit/>
          </a:bodyPr>
          <a:lstStyle/>
          <a:p>
            <a:pPr algn="just">
              <a:lnSpc>
                <a:spcPts val="8100"/>
              </a:lnSpc>
            </a:pPr>
            <a:r>
              <a:rPr lang="en-US" sz="4500">
                <a:solidFill>
                  <a:srgbClr val="000000"/>
                </a:solidFill>
                <a:latin typeface="Arial"/>
                <a:ea typeface="Arial"/>
                <a:cs typeface="Arial"/>
                <a:sym typeface="Arial"/>
              </a:rPr>
              <a:t>1. Vấn đề &amp; Lý do chọn đề tài</a:t>
            </a:r>
          </a:p>
          <a:p>
            <a:pPr algn="just">
              <a:lnSpc>
                <a:spcPts val="8100"/>
              </a:lnSpc>
            </a:pPr>
            <a:r>
              <a:rPr lang="en-US" sz="4500">
                <a:solidFill>
                  <a:srgbClr val="000000"/>
                </a:solidFill>
                <a:latin typeface="Arial"/>
                <a:ea typeface="Arial"/>
                <a:cs typeface="Arial"/>
                <a:sym typeface="Arial"/>
              </a:rPr>
              <a:t>2. Mục tiêu &amp; Phạm vi đề tài</a:t>
            </a:r>
          </a:p>
          <a:p>
            <a:pPr algn="just">
              <a:lnSpc>
                <a:spcPts val="8100"/>
              </a:lnSpc>
            </a:pPr>
            <a:r>
              <a:rPr lang="en-US" sz="4500">
                <a:solidFill>
                  <a:srgbClr val="000000"/>
                </a:solidFill>
                <a:latin typeface="Arial"/>
                <a:ea typeface="Arial"/>
                <a:cs typeface="Arial"/>
                <a:sym typeface="Arial"/>
              </a:rPr>
              <a:t>3. Công nghệ sử dụng</a:t>
            </a:r>
          </a:p>
          <a:p>
            <a:pPr algn="just">
              <a:lnSpc>
                <a:spcPts val="8100"/>
              </a:lnSpc>
            </a:pPr>
            <a:r>
              <a:rPr lang="en-US" sz="4500">
                <a:solidFill>
                  <a:srgbClr val="000000"/>
                </a:solidFill>
                <a:latin typeface="Arial"/>
                <a:ea typeface="Arial"/>
                <a:cs typeface="Arial"/>
                <a:sym typeface="Arial"/>
              </a:rPr>
              <a:t>4. Phân tích &amp; Thiết kế hệ thống</a:t>
            </a:r>
          </a:p>
          <a:p>
            <a:pPr algn="just">
              <a:lnSpc>
                <a:spcPts val="8100"/>
              </a:lnSpc>
            </a:pPr>
            <a:r>
              <a:rPr lang="en-US" sz="4500">
                <a:solidFill>
                  <a:srgbClr val="000000"/>
                </a:solidFill>
                <a:latin typeface="Arial"/>
                <a:ea typeface="Arial"/>
                <a:cs typeface="Arial"/>
                <a:sym typeface="Arial"/>
              </a:rPr>
              <a:t>5. Demo chức năng chính</a:t>
            </a:r>
          </a:p>
          <a:p>
            <a:pPr algn="just">
              <a:lnSpc>
                <a:spcPts val="8100"/>
              </a:lnSpc>
            </a:pPr>
            <a:r>
              <a:rPr lang="en-US" sz="4500">
                <a:solidFill>
                  <a:srgbClr val="000000"/>
                </a:solidFill>
                <a:latin typeface="Arial"/>
                <a:ea typeface="Arial"/>
                <a:cs typeface="Arial"/>
                <a:sym typeface="Arial"/>
              </a:rPr>
              <a:t>6. Kết luận &amp; Hướng phát triển</a:t>
            </a:r>
          </a:p>
          <a:p>
            <a:pPr algn="just">
              <a:lnSpc>
                <a:spcPts val="6300"/>
              </a:lnSpc>
            </a:pPr>
            <a:endParaRPr lang="en-US" sz="4500">
              <a:solidFill>
                <a:srgbClr val="000000"/>
              </a:solidFill>
              <a:latin typeface="Arial"/>
              <a:ea typeface="Arial"/>
              <a:cs typeface="Arial"/>
              <a:sym typeface="Arial"/>
            </a:endParaRPr>
          </a:p>
        </p:txBody>
      </p:sp>
      <p:sp>
        <p:nvSpPr>
          <p:cNvPr id="7" name="TextBox 7"/>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11817108" y="1901565"/>
            <a:ext cx="5896247" cy="3930831"/>
          </a:xfrm>
          <a:custGeom>
            <a:avLst/>
            <a:gdLst/>
            <a:ahLst/>
            <a:cxnLst/>
            <a:rect l="l" t="t" r="r" b="b"/>
            <a:pathLst>
              <a:path w="5896247" h="3930831">
                <a:moveTo>
                  <a:pt x="0" y="0"/>
                </a:moveTo>
                <a:lnTo>
                  <a:pt x="5896247" y="0"/>
                </a:lnTo>
                <a:lnTo>
                  <a:pt x="5896247" y="3930831"/>
                </a:lnTo>
                <a:lnTo>
                  <a:pt x="0" y="3930831"/>
                </a:lnTo>
                <a:lnTo>
                  <a:pt x="0" y="0"/>
                </a:lnTo>
                <a:close/>
              </a:path>
            </a:pathLst>
          </a:custGeom>
          <a:blipFill>
            <a:blip r:embed="rId4"/>
            <a:stretch>
              <a:fillRect/>
            </a:stretch>
          </a:blipFill>
        </p:spPr>
      </p:sp>
      <p:sp>
        <p:nvSpPr>
          <p:cNvPr id="5" name="Freeform 5"/>
          <p:cNvSpPr/>
          <p:nvPr/>
        </p:nvSpPr>
        <p:spPr>
          <a:xfrm>
            <a:off x="11087545" y="6251496"/>
            <a:ext cx="3804101" cy="3804101"/>
          </a:xfrm>
          <a:custGeom>
            <a:avLst/>
            <a:gdLst/>
            <a:ahLst/>
            <a:cxnLst/>
            <a:rect l="l" t="t" r="r" b="b"/>
            <a:pathLst>
              <a:path w="3804101" h="3804101">
                <a:moveTo>
                  <a:pt x="0" y="0"/>
                </a:moveTo>
                <a:lnTo>
                  <a:pt x="3804101" y="0"/>
                </a:lnTo>
                <a:lnTo>
                  <a:pt x="3804101" y="3804101"/>
                </a:lnTo>
                <a:lnTo>
                  <a:pt x="0" y="3804101"/>
                </a:lnTo>
                <a:lnTo>
                  <a:pt x="0" y="0"/>
                </a:lnTo>
                <a:close/>
              </a:path>
            </a:pathLst>
          </a:custGeom>
          <a:blipFill>
            <a:blip r:embed="rId5"/>
            <a:stretch>
              <a:fillRect/>
            </a:stretch>
          </a:blipFill>
        </p:spPr>
      </p:sp>
      <p:sp>
        <p:nvSpPr>
          <p:cNvPr id="6" name="Freeform 6"/>
          <p:cNvSpPr/>
          <p:nvPr/>
        </p:nvSpPr>
        <p:spPr>
          <a:xfrm>
            <a:off x="14392348" y="6746796"/>
            <a:ext cx="3952657" cy="3163388"/>
          </a:xfrm>
          <a:custGeom>
            <a:avLst/>
            <a:gdLst/>
            <a:ahLst/>
            <a:cxnLst/>
            <a:rect l="l" t="t" r="r" b="b"/>
            <a:pathLst>
              <a:path w="3952657" h="3163388">
                <a:moveTo>
                  <a:pt x="0" y="0"/>
                </a:moveTo>
                <a:lnTo>
                  <a:pt x="3952657" y="0"/>
                </a:lnTo>
                <a:lnTo>
                  <a:pt x="3952657" y="3163388"/>
                </a:lnTo>
                <a:lnTo>
                  <a:pt x="0" y="3163388"/>
                </a:lnTo>
                <a:lnTo>
                  <a:pt x="0" y="0"/>
                </a:lnTo>
                <a:close/>
              </a:path>
            </a:pathLst>
          </a:custGeom>
          <a:blipFill>
            <a:blip r:embed="rId6"/>
            <a:stretch>
              <a:fillRect/>
            </a:stretch>
          </a:blipFill>
        </p:spPr>
      </p:sp>
      <p:sp>
        <p:nvSpPr>
          <p:cNvPr id="7" name="TextBox 7"/>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8" name="TextBox 8"/>
          <p:cNvSpPr txBox="1"/>
          <p:nvPr/>
        </p:nvSpPr>
        <p:spPr>
          <a:xfrm>
            <a:off x="283426" y="1664841"/>
            <a:ext cx="9986120"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1. VẤN ĐỀ (THỰC TRẠNG HIỆN NAY)</a:t>
            </a:r>
          </a:p>
        </p:txBody>
      </p:sp>
      <p:sp>
        <p:nvSpPr>
          <p:cNvPr id="9" name="TextBox 9"/>
          <p:cNvSpPr txBox="1"/>
          <p:nvPr/>
        </p:nvSpPr>
        <p:spPr>
          <a:xfrm>
            <a:off x="297525" y="2739261"/>
            <a:ext cx="10222740" cy="681989"/>
          </a:xfrm>
          <a:prstGeom prst="rect">
            <a:avLst/>
          </a:prstGeom>
        </p:spPr>
        <p:txBody>
          <a:bodyPr lIns="0" tIns="0" rIns="0" bIns="0" rtlCol="0" anchor="t">
            <a:spAutoFit/>
          </a:bodyPr>
          <a:lstStyle/>
          <a:p>
            <a:pPr algn="just">
              <a:lnSpc>
                <a:spcPts val="5460"/>
              </a:lnSpc>
            </a:pPr>
            <a:r>
              <a:rPr lang="en-US" sz="3900" b="1">
                <a:solidFill>
                  <a:srgbClr val="000000"/>
                </a:solidFill>
                <a:latin typeface="Arial Bold"/>
                <a:ea typeface="Arial Bold"/>
                <a:cs typeface="Arial Bold"/>
                <a:sym typeface="Arial Bold"/>
              </a:rPr>
              <a:t>Bất cập hiện tại:</a:t>
            </a:r>
          </a:p>
        </p:txBody>
      </p:sp>
      <p:sp>
        <p:nvSpPr>
          <p:cNvPr id="10" name="TextBox 10"/>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2</a:t>
            </a:r>
          </a:p>
        </p:txBody>
      </p:sp>
      <p:sp>
        <p:nvSpPr>
          <p:cNvPr id="11" name="TextBox 11"/>
          <p:cNvSpPr txBox="1"/>
          <p:nvPr/>
        </p:nvSpPr>
        <p:spPr>
          <a:xfrm>
            <a:off x="8789" y="3359655"/>
            <a:ext cx="11406626" cy="4278628"/>
          </a:xfrm>
          <a:prstGeom prst="rect">
            <a:avLst/>
          </a:prstGeom>
        </p:spPr>
        <p:txBody>
          <a:bodyPr lIns="0" tIns="0" rIns="0" bIns="0" rtlCol="0" anchor="t">
            <a:spAutoFit/>
          </a:bodyPr>
          <a:lstStyle/>
          <a:p>
            <a:pPr marL="842016" lvl="1" indent="-421008" algn="just">
              <a:lnSpc>
                <a:spcPts val="7020"/>
              </a:lnSpc>
              <a:buFont typeface="Arial"/>
              <a:buChar char="•"/>
            </a:pPr>
            <a:r>
              <a:rPr lang="en-US" sz="3900">
                <a:solidFill>
                  <a:srgbClr val="000000"/>
                </a:solidFill>
                <a:latin typeface="Arial"/>
                <a:ea typeface="Arial"/>
                <a:cs typeface="Arial"/>
                <a:sym typeface="Arial"/>
              </a:rPr>
              <a:t>Lưu trữ phân tán, khó tra cứu lịch sử giao dịch.</a:t>
            </a:r>
          </a:p>
          <a:p>
            <a:pPr marL="842016" lvl="1" indent="-421008" algn="just">
              <a:lnSpc>
                <a:spcPts val="7020"/>
              </a:lnSpc>
              <a:buFont typeface="Arial"/>
              <a:buChar char="•"/>
            </a:pPr>
            <a:r>
              <a:rPr lang="en-US" sz="3900">
                <a:solidFill>
                  <a:srgbClr val="000000"/>
                </a:solidFill>
                <a:latin typeface="Arial"/>
                <a:ea typeface="Arial"/>
                <a:cs typeface="Arial"/>
                <a:sym typeface="Arial"/>
              </a:rPr>
              <a:t>Thất thoát doanh thu do sai sót trong tính toán thủ công.</a:t>
            </a:r>
          </a:p>
          <a:p>
            <a:pPr marL="842016" lvl="1" indent="-421008" algn="just">
              <a:lnSpc>
                <a:spcPts val="7020"/>
              </a:lnSpc>
              <a:buFont typeface="Arial"/>
              <a:buChar char="•"/>
            </a:pPr>
            <a:r>
              <a:rPr lang="en-US" sz="3900">
                <a:solidFill>
                  <a:srgbClr val="000000"/>
                </a:solidFill>
                <a:latin typeface="Arial"/>
                <a:ea typeface="Arial"/>
                <a:cs typeface="Arial"/>
                <a:sym typeface="Arial"/>
              </a:rPr>
              <a:t>Không kiểm soát được hàng tồn kho thực tế.</a:t>
            </a:r>
          </a:p>
          <a:p>
            <a:pPr algn="just">
              <a:lnSpc>
                <a:spcPts val="5460"/>
              </a:lnSpc>
            </a:pPr>
            <a:endParaRPr lang="en-US" sz="3900">
              <a:solidFill>
                <a:srgbClr val="000000"/>
              </a:solidFill>
              <a:latin typeface="Arial"/>
              <a:ea typeface="Arial"/>
              <a:cs typeface="Arial"/>
              <a:sym typeface="Arial"/>
            </a:endParaRPr>
          </a:p>
        </p:txBody>
      </p:sp>
      <p:sp>
        <p:nvSpPr>
          <p:cNvPr id="12" name="TextBox 12"/>
          <p:cNvSpPr txBox="1"/>
          <p:nvPr/>
        </p:nvSpPr>
        <p:spPr>
          <a:xfrm>
            <a:off x="435550" y="7286493"/>
            <a:ext cx="10222740" cy="681989"/>
          </a:xfrm>
          <a:prstGeom prst="rect">
            <a:avLst/>
          </a:prstGeom>
        </p:spPr>
        <p:txBody>
          <a:bodyPr lIns="0" tIns="0" rIns="0" bIns="0" rtlCol="0" anchor="t">
            <a:spAutoFit/>
          </a:bodyPr>
          <a:lstStyle/>
          <a:p>
            <a:pPr algn="just">
              <a:lnSpc>
                <a:spcPts val="5460"/>
              </a:lnSpc>
            </a:pPr>
            <a:r>
              <a:rPr lang="en-US" sz="3900" b="1">
                <a:solidFill>
                  <a:srgbClr val="000000"/>
                </a:solidFill>
                <a:latin typeface="Arial Bold"/>
                <a:ea typeface="Arial Bold"/>
                <a:cs typeface="Arial Bold"/>
                <a:sym typeface="Arial Bold"/>
              </a:rPr>
              <a:t>Giải pháp đề xuất:</a:t>
            </a:r>
          </a:p>
        </p:txBody>
      </p:sp>
      <p:sp>
        <p:nvSpPr>
          <p:cNvPr id="13" name="TextBox 13"/>
          <p:cNvSpPr txBox="1"/>
          <p:nvPr/>
        </p:nvSpPr>
        <p:spPr>
          <a:xfrm>
            <a:off x="177357" y="7905896"/>
            <a:ext cx="11406626" cy="2506978"/>
          </a:xfrm>
          <a:prstGeom prst="rect">
            <a:avLst/>
          </a:prstGeom>
        </p:spPr>
        <p:txBody>
          <a:bodyPr lIns="0" tIns="0" rIns="0" bIns="0" rtlCol="0" anchor="t">
            <a:spAutoFit/>
          </a:bodyPr>
          <a:lstStyle/>
          <a:p>
            <a:pPr marL="842016" lvl="1" indent="-421008" algn="just">
              <a:lnSpc>
                <a:spcPts val="7020"/>
              </a:lnSpc>
              <a:buFont typeface="Arial"/>
              <a:buChar char="•"/>
            </a:pPr>
            <a:r>
              <a:rPr lang="en-US" sz="3900">
                <a:solidFill>
                  <a:srgbClr val="000000"/>
                </a:solidFill>
                <a:latin typeface="Arial"/>
                <a:ea typeface="Arial"/>
                <a:cs typeface="Arial"/>
                <a:sym typeface="Arial"/>
              </a:rPr>
              <a:t>Số hóa toàn bộ quy trình nghiệp vụ.</a:t>
            </a:r>
          </a:p>
          <a:p>
            <a:pPr marL="842016" lvl="1" indent="-421008" algn="just">
              <a:lnSpc>
                <a:spcPts val="7020"/>
              </a:lnSpc>
              <a:buFont typeface="Arial"/>
              <a:buChar char="•"/>
            </a:pPr>
            <a:r>
              <a:rPr lang="en-US" sz="3900">
                <a:solidFill>
                  <a:srgbClr val="000000"/>
                </a:solidFill>
                <a:latin typeface="Arial"/>
                <a:ea typeface="Arial"/>
                <a:cs typeface="Arial"/>
                <a:sym typeface="Arial"/>
              </a:rPr>
              <a:t>Tập trung hóa dữ liệu giúp quản lý thống nhất.</a:t>
            </a:r>
          </a:p>
          <a:p>
            <a:pPr algn="just">
              <a:lnSpc>
                <a:spcPts val="5460"/>
              </a:lnSpc>
            </a:pPr>
            <a:endParaRPr lang="en-US" sz="39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22716" y="2672586"/>
            <a:ext cx="8479918" cy="7821928"/>
          </a:xfrm>
          <a:prstGeom prst="rect">
            <a:avLst/>
          </a:prstGeom>
        </p:spPr>
        <p:txBody>
          <a:bodyPr lIns="0" tIns="0" rIns="0" bIns="0" rtlCol="0" anchor="t">
            <a:spAutoFit/>
          </a:bodyPr>
          <a:lstStyle/>
          <a:p>
            <a:pPr marL="842016" lvl="1" indent="-421008" algn="just">
              <a:lnSpc>
                <a:spcPts val="7020"/>
              </a:lnSpc>
              <a:buFont typeface="Arial"/>
              <a:buChar char="•"/>
            </a:pPr>
            <a:r>
              <a:rPr lang="en-US" sz="3900">
                <a:solidFill>
                  <a:srgbClr val="000000"/>
                </a:solidFill>
                <a:latin typeface="Arial"/>
                <a:ea typeface="Arial"/>
                <a:cs typeface="Arial"/>
                <a:sym typeface="Arial"/>
              </a:rPr>
              <a:t>Xây dựng ứng dụng Windows Forms quản lý bán hàng.</a:t>
            </a:r>
          </a:p>
          <a:p>
            <a:pPr marL="842016" lvl="1" indent="-421008" algn="just">
              <a:lnSpc>
                <a:spcPts val="7020"/>
              </a:lnSpc>
              <a:buFont typeface="Arial"/>
              <a:buChar char="•"/>
            </a:pPr>
            <a:r>
              <a:rPr lang="en-US" sz="3900">
                <a:solidFill>
                  <a:srgbClr val="000000"/>
                </a:solidFill>
                <a:latin typeface="Arial"/>
                <a:ea typeface="Arial"/>
                <a:cs typeface="Arial"/>
                <a:sym typeface="Arial"/>
              </a:rPr>
              <a:t>Quản lý danh mục sản phẩm, nhân viên.</a:t>
            </a:r>
          </a:p>
          <a:p>
            <a:pPr marL="842016" lvl="1" indent="-421008" algn="just">
              <a:lnSpc>
                <a:spcPts val="7020"/>
              </a:lnSpc>
              <a:buFont typeface="Arial"/>
              <a:buChar char="•"/>
            </a:pPr>
            <a:r>
              <a:rPr lang="en-US" sz="3900">
                <a:solidFill>
                  <a:srgbClr val="000000"/>
                </a:solidFill>
                <a:latin typeface="Arial"/>
                <a:ea typeface="Arial"/>
                <a:cs typeface="Arial"/>
                <a:sym typeface="Arial"/>
              </a:rPr>
              <a:t>Lưu trữ thông tin khách hàng.</a:t>
            </a:r>
          </a:p>
          <a:p>
            <a:pPr marL="842016" lvl="1" indent="-421008" algn="just">
              <a:lnSpc>
                <a:spcPts val="7020"/>
              </a:lnSpc>
              <a:buFont typeface="Arial"/>
              <a:buChar char="•"/>
            </a:pPr>
            <a:r>
              <a:rPr lang="en-US" sz="3900">
                <a:solidFill>
                  <a:srgbClr val="000000"/>
                </a:solidFill>
                <a:latin typeface="Arial"/>
                <a:ea typeface="Arial"/>
                <a:cs typeface="Arial"/>
                <a:sym typeface="Arial"/>
              </a:rPr>
              <a:t>Tự động hóa quy trình lập hóa đơn và tính tiền.</a:t>
            </a:r>
          </a:p>
          <a:p>
            <a:pPr marL="842016" lvl="1" indent="-421008" algn="just">
              <a:lnSpc>
                <a:spcPts val="7020"/>
              </a:lnSpc>
              <a:buFont typeface="Arial"/>
              <a:buChar char="•"/>
            </a:pPr>
            <a:r>
              <a:rPr lang="en-US" sz="3900">
                <a:solidFill>
                  <a:srgbClr val="000000"/>
                </a:solidFill>
                <a:latin typeface="Arial"/>
                <a:ea typeface="Arial"/>
                <a:cs typeface="Arial"/>
                <a:sym typeface="Arial"/>
              </a:rPr>
              <a:t>Xem lại lịch sử bán hàng.</a:t>
            </a:r>
          </a:p>
          <a:p>
            <a:pPr algn="just">
              <a:lnSpc>
                <a:spcPts val="5460"/>
              </a:lnSpc>
            </a:pPr>
            <a:endParaRPr lang="en-US" sz="3900">
              <a:solidFill>
                <a:srgbClr val="000000"/>
              </a:solidFill>
              <a:latin typeface="Arial"/>
              <a:ea typeface="Arial"/>
              <a:cs typeface="Arial"/>
              <a:sym typeface="Arial"/>
            </a:endParaRPr>
          </a:p>
        </p:txBody>
      </p:sp>
      <p:sp>
        <p:nvSpPr>
          <p:cNvPr id="6" name="TextBox 6"/>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3</a:t>
            </a:r>
          </a:p>
        </p:txBody>
      </p:sp>
      <p:sp>
        <p:nvSpPr>
          <p:cNvPr id="7" name="TextBox 7"/>
          <p:cNvSpPr txBox="1"/>
          <p:nvPr/>
        </p:nvSpPr>
        <p:spPr>
          <a:xfrm>
            <a:off x="283426" y="1664841"/>
            <a:ext cx="9986120"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2. MỤC TIÊU ĐỀ TÀI</a:t>
            </a:r>
          </a:p>
        </p:txBody>
      </p:sp>
      <p:grpSp>
        <p:nvGrpSpPr>
          <p:cNvPr id="8" name="Group 8"/>
          <p:cNvGrpSpPr/>
          <p:nvPr/>
        </p:nvGrpSpPr>
        <p:grpSpPr>
          <a:xfrm>
            <a:off x="9201606" y="1901565"/>
            <a:ext cx="8502224" cy="7946346"/>
            <a:chOff x="0" y="0"/>
            <a:chExt cx="11336299" cy="10595129"/>
          </a:xfrm>
        </p:grpSpPr>
        <p:grpSp>
          <p:nvGrpSpPr>
            <p:cNvPr id="9" name="Group 9"/>
            <p:cNvGrpSpPr/>
            <p:nvPr/>
          </p:nvGrpSpPr>
          <p:grpSpPr>
            <a:xfrm>
              <a:off x="0" y="0"/>
              <a:ext cx="11336299" cy="10595129"/>
              <a:chOff x="0" y="0"/>
              <a:chExt cx="1526657" cy="1426845"/>
            </a:xfrm>
          </p:grpSpPr>
          <p:sp>
            <p:nvSpPr>
              <p:cNvPr id="10" name="Freeform 10"/>
              <p:cNvSpPr/>
              <p:nvPr/>
            </p:nvSpPr>
            <p:spPr>
              <a:xfrm>
                <a:off x="0" y="0"/>
                <a:ext cx="1526657" cy="1426845"/>
              </a:xfrm>
              <a:custGeom>
                <a:avLst/>
                <a:gdLst/>
                <a:ahLst/>
                <a:cxnLst/>
                <a:rect l="l" t="t" r="r" b="b"/>
                <a:pathLst>
                  <a:path w="1526657" h="1426845">
                    <a:moveTo>
                      <a:pt x="1526657" y="22662"/>
                    </a:moveTo>
                    <a:lnTo>
                      <a:pt x="1526657" y="1404183"/>
                    </a:lnTo>
                    <a:cubicBezTo>
                      <a:pt x="1526657" y="1410193"/>
                      <a:pt x="1524269" y="1415957"/>
                      <a:pt x="1520019" y="1420207"/>
                    </a:cubicBezTo>
                    <a:cubicBezTo>
                      <a:pt x="1515769" y="1424457"/>
                      <a:pt x="1510005" y="1426845"/>
                      <a:pt x="1503995" y="1426845"/>
                    </a:cubicBezTo>
                    <a:lnTo>
                      <a:pt x="22662" y="1426845"/>
                    </a:lnTo>
                    <a:cubicBezTo>
                      <a:pt x="10146" y="1426845"/>
                      <a:pt x="0" y="1416699"/>
                      <a:pt x="0" y="1404183"/>
                    </a:cubicBezTo>
                    <a:lnTo>
                      <a:pt x="0" y="22662"/>
                    </a:lnTo>
                    <a:cubicBezTo>
                      <a:pt x="0" y="10146"/>
                      <a:pt x="10146" y="0"/>
                      <a:pt x="22662" y="0"/>
                    </a:cubicBezTo>
                    <a:lnTo>
                      <a:pt x="1503995" y="0"/>
                    </a:lnTo>
                    <a:cubicBezTo>
                      <a:pt x="1516511" y="0"/>
                      <a:pt x="1526657" y="10146"/>
                      <a:pt x="1526657" y="22662"/>
                    </a:cubicBezTo>
                    <a:close/>
                  </a:path>
                </a:pathLst>
              </a:custGeom>
              <a:solidFill>
                <a:srgbClr val="FFFFFF">
                  <a:alpha val="64706"/>
                </a:srgbClr>
              </a:solidFill>
              <a:ln w="28575" cap="rnd">
                <a:solidFill>
                  <a:srgbClr val="000000">
                    <a:alpha val="64706"/>
                  </a:srgbClr>
                </a:solidFill>
                <a:prstDash val="dash"/>
                <a:round/>
              </a:ln>
            </p:spPr>
          </p:sp>
          <p:sp>
            <p:nvSpPr>
              <p:cNvPr id="11" name="TextBox 11"/>
              <p:cNvSpPr txBox="1"/>
              <p:nvPr/>
            </p:nvSpPr>
            <p:spPr>
              <a:xfrm>
                <a:off x="0" y="-57150"/>
                <a:ext cx="1526657" cy="1483995"/>
              </a:xfrm>
              <a:prstGeom prst="rect">
                <a:avLst/>
              </a:prstGeom>
            </p:spPr>
            <p:txBody>
              <a:bodyPr lIns="44019" tIns="44019" rIns="44019" bIns="44019" rtlCol="0" anchor="ctr"/>
              <a:lstStyle/>
              <a:p>
                <a:pPr algn="ctr">
                  <a:lnSpc>
                    <a:spcPts val="4059"/>
                  </a:lnSpc>
                </a:pPr>
                <a:endParaRPr/>
              </a:p>
            </p:txBody>
          </p:sp>
        </p:grpSp>
        <p:sp>
          <p:nvSpPr>
            <p:cNvPr id="12" name="TextBox 12"/>
            <p:cNvSpPr txBox="1"/>
            <p:nvPr/>
          </p:nvSpPr>
          <p:spPr>
            <a:xfrm>
              <a:off x="1578583" y="4869477"/>
              <a:ext cx="8575529" cy="702968"/>
            </a:xfrm>
            <a:prstGeom prst="rect">
              <a:avLst/>
            </a:prstGeom>
          </p:spPr>
          <p:txBody>
            <a:bodyPr lIns="0" tIns="0" rIns="0" bIns="0" rtlCol="0" anchor="t">
              <a:spAutoFit/>
            </a:bodyPr>
            <a:lstStyle/>
            <a:p>
              <a:pPr algn="l">
                <a:lnSpc>
                  <a:spcPts val="4381"/>
                </a:lnSpc>
                <a:spcBef>
                  <a:spcPct val="0"/>
                </a:spcBef>
              </a:pPr>
              <a:r>
                <a:rPr lang="en-US" sz="3129" b="1">
                  <a:solidFill>
                    <a:srgbClr val="DC2323"/>
                  </a:solidFill>
                  <a:latin typeface="Arial Bold"/>
                  <a:ea typeface="Arial Bold"/>
                  <a:cs typeface="Arial Bold"/>
                  <a:sym typeface="Arial Bold"/>
                </a:rPr>
                <a:t>ỨNG DỤNG QUẢN LÝ BÁN HÀNG</a:t>
              </a:r>
            </a:p>
          </p:txBody>
        </p:sp>
        <p:sp>
          <p:nvSpPr>
            <p:cNvPr id="13" name="AutoShape 13"/>
            <p:cNvSpPr/>
            <p:nvPr/>
          </p:nvSpPr>
          <p:spPr>
            <a:xfrm flipH="1">
              <a:off x="5851060" y="2055542"/>
              <a:ext cx="0" cy="2682558"/>
            </a:xfrm>
            <a:prstGeom prst="line">
              <a:avLst/>
            </a:prstGeom>
            <a:ln w="60203" cap="flat">
              <a:solidFill>
                <a:srgbClr val="000000"/>
              </a:solidFill>
              <a:prstDash val="solid"/>
              <a:headEnd type="none" w="sm" len="sm"/>
              <a:tailEnd type="none" w="sm" len="sm"/>
            </a:ln>
          </p:spPr>
        </p:sp>
        <p:sp>
          <p:nvSpPr>
            <p:cNvPr id="14" name="AutoShape 14"/>
            <p:cNvSpPr/>
            <p:nvPr/>
          </p:nvSpPr>
          <p:spPr>
            <a:xfrm flipH="1">
              <a:off x="5851060" y="2055542"/>
              <a:ext cx="2682558" cy="2682558"/>
            </a:xfrm>
            <a:prstGeom prst="line">
              <a:avLst/>
            </a:prstGeom>
            <a:ln w="60203" cap="flat">
              <a:solidFill>
                <a:srgbClr val="000000"/>
              </a:solidFill>
              <a:prstDash val="solid"/>
              <a:headEnd type="none" w="sm" len="sm"/>
              <a:tailEnd type="none" w="sm" len="sm"/>
            </a:ln>
          </p:spPr>
        </p:sp>
        <p:sp>
          <p:nvSpPr>
            <p:cNvPr id="15" name="AutoShape 15"/>
            <p:cNvSpPr/>
            <p:nvPr/>
          </p:nvSpPr>
          <p:spPr>
            <a:xfrm>
              <a:off x="3168501" y="2055542"/>
              <a:ext cx="2682558" cy="2682558"/>
            </a:xfrm>
            <a:prstGeom prst="line">
              <a:avLst/>
            </a:prstGeom>
            <a:ln w="60203" cap="flat">
              <a:solidFill>
                <a:srgbClr val="000000"/>
              </a:solidFill>
              <a:prstDash val="solid"/>
              <a:headEnd type="none" w="sm" len="sm"/>
              <a:tailEnd type="none" w="sm" len="sm"/>
            </a:ln>
          </p:spPr>
        </p:sp>
        <p:sp>
          <p:nvSpPr>
            <p:cNvPr id="16" name="TextBox 16"/>
            <p:cNvSpPr txBox="1"/>
            <p:nvPr/>
          </p:nvSpPr>
          <p:spPr>
            <a:xfrm>
              <a:off x="602360" y="511603"/>
              <a:ext cx="2720865" cy="1435717"/>
            </a:xfrm>
            <a:prstGeom prst="rect">
              <a:avLst/>
            </a:prstGeom>
          </p:spPr>
          <p:txBody>
            <a:bodyPr lIns="0" tIns="0" rIns="0" bIns="0" rtlCol="0" anchor="t">
              <a:spAutoFit/>
            </a:bodyPr>
            <a:lstStyle/>
            <a:p>
              <a:pPr algn="ctr">
                <a:lnSpc>
                  <a:spcPts val="4381"/>
                </a:lnSpc>
              </a:pPr>
              <a:r>
                <a:rPr lang="en-US" sz="3129">
                  <a:solidFill>
                    <a:srgbClr val="000000"/>
                  </a:solidFill>
                  <a:latin typeface="Arial"/>
                  <a:ea typeface="Arial"/>
                  <a:cs typeface="Arial"/>
                  <a:sym typeface="Arial"/>
                </a:rPr>
                <a:t>Quản lý</a:t>
              </a:r>
            </a:p>
            <a:p>
              <a:pPr algn="ctr">
                <a:lnSpc>
                  <a:spcPts val="4381"/>
                </a:lnSpc>
                <a:spcBef>
                  <a:spcPct val="0"/>
                </a:spcBef>
              </a:pPr>
              <a:r>
                <a:rPr lang="en-US" sz="3129">
                  <a:solidFill>
                    <a:srgbClr val="000000"/>
                  </a:solidFill>
                  <a:latin typeface="Arial"/>
                  <a:ea typeface="Arial"/>
                  <a:cs typeface="Arial"/>
                  <a:sym typeface="Arial"/>
                </a:rPr>
                <a:t>sản phẩm</a:t>
              </a:r>
            </a:p>
          </p:txBody>
        </p:sp>
        <p:sp>
          <p:nvSpPr>
            <p:cNvPr id="17" name="TextBox 17"/>
            <p:cNvSpPr txBox="1"/>
            <p:nvPr/>
          </p:nvSpPr>
          <p:spPr>
            <a:xfrm>
              <a:off x="4401491" y="511603"/>
              <a:ext cx="2720865" cy="1435717"/>
            </a:xfrm>
            <a:prstGeom prst="rect">
              <a:avLst/>
            </a:prstGeom>
          </p:spPr>
          <p:txBody>
            <a:bodyPr lIns="0" tIns="0" rIns="0" bIns="0" rtlCol="0" anchor="t">
              <a:spAutoFit/>
            </a:bodyPr>
            <a:lstStyle/>
            <a:p>
              <a:pPr algn="ctr">
                <a:lnSpc>
                  <a:spcPts val="4381"/>
                </a:lnSpc>
              </a:pPr>
              <a:r>
                <a:rPr lang="en-US" sz="3129">
                  <a:solidFill>
                    <a:srgbClr val="000000"/>
                  </a:solidFill>
                  <a:latin typeface="Arial"/>
                  <a:ea typeface="Arial"/>
                  <a:cs typeface="Arial"/>
                  <a:sym typeface="Arial"/>
                </a:rPr>
                <a:t>Quản lý</a:t>
              </a:r>
            </a:p>
            <a:p>
              <a:pPr algn="ctr">
                <a:lnSpc>
                  <a:spcPts val="4381"/>
                </a:lnSpc>
                <a:spcBef>
                  <a:spcPct val="0"/>
                </a:spcBef>
              </a:pPr>
              <a:r>
                <a:rPr lang="en-US" sz="3129">
                  <a:solidFill>
                    <a:srgbClr val="000000"/>
                  </a:solidFill>
                  <a:latin typeface="Arial"/>
                  <a:ea typeface="Arial"/>
                  <a:cs typeface="Arial"/>
                  <a:sym typeface="Arial"/>
                </a:rPr>
                <a:t>nhân viên</a:t>
              </a:r>
            </a:p>
          </p:txBody>
        </p:sp>
        <p:sp>
          <p:nvSpPr>
            <p:cNvPr id="18" name="TextBox 18"/>
            <p:cNvSpPr txBox="1"/>
            <p:nvPr/>
          </p:nvSpPr>
          <p:spPr>
            <a:xfrm>
              <a:off x="7606716" y="511603"/>
              <a:ext cx="3154087" cy="1435717"/>
            </a:xfrm>
            <a:prstGeom prst="rect">
              <a:avLst/>
            </a:prstGeom>
          </p:spPr>
          <p:txBody>
            <a:bodyPr lIns="0" tIns="0" rIns="0" bIns="0" rtlCol="0" anchor="t">
              <a:spAutoFit/>
            </a:bodyPr>
            <a:lstStyle/>
            <a:p>
              <a:pPr algn="ctr">
                <a:lnSpc>
                  <a:spcPts val="4381"/>
                </a:lnSpc>
              </a:pPr>
              <a:r>
                <a:rPr lang="en-US" sz="3129">
                  <a:solidFill>
                    <a:srgbClr val="000000"/>
                  </a:solidFill>
                  <a:latin typeface="Arial"/>
                  <a:ea typeface="Arial"/>
                  <a:cs typeface="Arial"/>
                  <a:sym typeface="Arial"/>
                </a:rPr>
                <a:t>Quản lý</a:t>
              </a:r>
            </a:p>
            <a:p>
              <a:pPr algn="ctr">
                <a:lnSpc>
                  <a:spcPts val="4381"/>
                </a:lnSpc>
                <a:spcBef>
                  <a:spcPct val="0"/>
                </a:spcBef>
              </a:pPr>
              <a:r>
                <a:rPr lang="en-US" sz="3129">
                  <a:solidFill>
                    <a:srgbClr val="000000"/>
                  </a:solidFill>
                  <a:latin typeface="Arial"/>
                  <a:ea typeface="Arial"/>
                  <a:cs typeface="Arial"/>
                  <a:sym typeface="Arial"/>
                </a:rPr>
                <a:t>khách hàng</a:t>
              </a:r>
            </a:p>
          </p:txBody>
        </p:sp>
        <p:sp>
          <p:nvSpPr>
            <p:cNvPr id="19" name="TextBox 19"/>
            <p:cNvSpPr txBox="1"/>
            <p:nvPr/>
          </p:nvSpPr>
          <p:spPr>
            <a:xfrm>
              <a:off x="317577" y="8519441"/>
              <a:ext cx="3220471" cy="1435717"/>
            </a:xfrm>
            <a:prstGeom prst="rect">
              <a:avLst/>
            </a:prstGeom>
          </p:spPr>
          <p:txBody>
            <a:bodyPr lIns="0" tIns="0" rIns="0" bIns="0" rtlCol="0" anchor="t">
              <a:spAutoFit/>
            </a:bodyPr>
            <a:lstStyle/>
            <a:p>
              <a:pPr algn="ctr">
                <a:lnSpc>
                  <a:spcPts val="4381"/>
                </a:lnSpc>
              </a:pPr>
              <a:r>
                <a:rPr lang="en-US" sz="3129">
                  <a:solidFill>
                    <a:srgbClr val="000000"/>
                  </a:solidFill>
                  <a:latin typeface="Arial"/>
                  <a:ea typeface="Arial"/>
                  <a:cs typeface="Arial"/>
                  <a:sym typeface="Arial"/>
                </a:rPr>
                <a:t>Bán hàng</a:t>
              </a:r>
            </a:p>
            <a:p>
              <a:pPr algn="ctr">
                <a:lnSpc>
                  <a:spcPts val="4381"/>
                </a:lnSpc>
                <a:spcBef>
                  <a:spcPct val="0"/>
                </a:spcBef>
              </a:pPr>
              <a:r>
                <a:rPr lang="en-US" sz="3129">
                  <a:solidFill>
                    <a:srgbClr val="000000"/>
                  </a:solidFill>
                  <a:latin typeface="Arial"/>
                  <a:ea typeface="Arial"/>
                  <a:cs typeface="Arial"/>
                  <a:sym typeface="Arial"/>
                </a:rPr>
                <a:t>nhanh chóng</a:t>
              </a:r>
            </a:p>
          </p:txBody>
        </p:sp>
        <p:sp>
          <p:nvSpPr>
            <p:cNvPr id="20" name="TextBox 20"/>
            <p:cNvSpPr txBox="1"/>
            <p:nvPr/>
          </p:nvSpPr>
          <p:spPr>
            <a:xfrm>
              <a:off x="4354059" y="8507022"/>
              <a:ext cx="3056595" cy="1435717"/>
            </a:xfrm>
            <a:prstGeom prst="rect">
              <a:avLst/>
            </a:prstGeom>
          </p:spPr>
          <p:txBody>
            <a:bodyPr lIns="0" tIns="0" rIns="0" bIns="0" rtlCol="0" anchor="t">
              <a:spAutoFit/>
            </a:bodyPr>
            <a:lstStyle/>
            <a:p>
              <a:pPr algn="ctr">
                <a:lnSpc>
                  <a:spcPts val="4381"/>
                </a:lnSpc>
                <a:spcBef>
                  <a:spcPct val="0"/>
                </a:spcBef>
              </a:pPr>
              <a:r>
                <a:rPr lang="en-US" sz="3129">
                  <a:solidFill>
                    <a:srgbClr val="000000"/>
                  </a:solidFill>
                  <a:latin typeface="Arial"/>
                  <a:ea typeface="Arial"/>
                  <a:cs typeface="Arial"/>
                  <a:sym typeface="Arial"/>
                </a:rPr>
                <a:t>Lập hóa đơn và tính tiền</a:t>
              </a:r>
            </a:p>
          </p:txBody>
        </p:sp>
        <p:sp>
          <p:nvSpPr>
            <p:cNvPr id="21" name="TextBox 21"/>
            <p:cNvSpPr txBox="1"/>
            <p:nvPr/>
          </p:nvSpPr>
          <p:spPr>
            <a:xfrm>
              <a:off x="7928225" y="8507022"/>
              <a:ext cx="3154087" cy="1435717"/>
            </a:xfrm>
            <a:prstGeom prst="rect">
              <a:avLst/>
            </a:prstGeom>
          </p:spPr>
          <p:txBody>
            <a:bodyPr lIns="0" tIns="0" rIns="0" bIns="0" rtlCol="0" anchor="t">
              <a:spAutoFit/>
            </a:bodyPr>
            <a:lstStyle/>
            <a:p>
              <a:pPr algn="ctr">
                <a:lnSpc>
                  <a:spcPts val="4381"/>
                </a:lnSpc>
              </a:pPr>
              <a:r>
                <a:rPr lang="en-US" sz="3129">
                  <a:solidFill>
                    <a:srgbClr val="000000"/>
                  </a:solidFill>
                  <a:latin typeface="Arial"/>
                  <a:ea typeface="Arial"/>
                  <a:cs typeface="Arial"/>
                  <a:sym typeface="Arial"/>
                </a:rPr>
                <a:t>Quản lý</a:t>
              </a:r>
            </a:p>
            <a:p>
              <a:pPr algn="ctr">
                <a:lnSpc>
                  <a:spcPts val="4381"/>
                </a:lnSpc>
                <a:spcBef>
                  <a:spcPct val="0"/>
                </a:spcBef>
              </a:pPr>
              <a:r>
                <a:rPr lang="en-US" sz="3129">
                  <a:solidFill>
                    <a:srgbClr val="000000"/>
                  </a:solidFill>
                  <a:latin typeface="Arial"/>
                  <a:ea typeface="Arial"/>
                  <a:cs typeface="Arial"/>
                  <a:sym typeface="Arial"/>
                </a:rPr>
                <a:t>khách hàng</a:t>
              </a:r>
            </a:p>
          </p:txBody>
        </p:sp>
        <p:sp>
          <p:nvSpPr>
            <p:cNvPr id="22" name="AutoShape 22"/>
            <p:cNvSpPr/>
            <p:nvPr/>
          </p:nvSpPr>
          <p:spPr>
            <a:xfrm flipV="1">
              <a:off x="5866348" y="5755184"/>
              <a:ext cx="0" cy="2682558"/>
            </a:xfrm>
            <a:prstGeom prst="line">
              <a:avLst/>
            </a:prstGeom>
            <a:ln w="60203" cap="flat">
              <a:solidFill>
                <a:srgbClr val="000000"/>
              </a:solidFill>
              <a:prstDash val="solid"/>
              <a:headEnd type="none" w="sm" len="sm"/>
              <a:tailEnd type="none" w="sm" len="sm"/>
            </a:ln>
          </p:spPr>
        </p:sp>
        <p:sp>
          <p:nvSpPr>
            <p:cNvPr id="23" name="AutoShape 23"/>
            <p:cNvSpPr/>
            <p:nvPr/>
          </p:nvSpPr>
          <p:spPr>
            <a:xfrm flipV="1">
              <a:off x="3183789" y="5755184"/>
              <a:ext cx="2682558" cy="2682558"/>
            </a:xfrm>
            <a:prstGeom prst="line">
              <a:avLst/>
            </a:prstGeom>
            <a:ln w="60203" cap="flat">
              <a:solidFill>
                <a:srgbClr val="000000"/>
              </a:solidFill>
              <a:prstDash val="solid"/>
              <a:headEnd type="none" w="sm" len="sm"/>
              <a:tailEnd type="none" w="sm" len="sm"/>
            </a:ln>
          </p:spPr>
        </p:sp>
        <p:sp>
          <p:nvSpPr>
            <p:cNvPr id="24" name="AutoShape 24"/>
            <p:cNvSpPr/>
            <p:nvPr/>
          </p:nvSpPr>
          <p:spPr>
            <a:xfrm flipH="1" flipV="1">
              <a:off x="5866348" y="5755184"/>
              <a:ext cx="2682558" cy="2682558"/>
            </a:xfrm>
            <a:prstGeom prst="line">
              <a:avLst/>
            </a:prstGeom>
            <a:ln w="60203" cap="flat">
              <a:solidFill>
                <a:srgbClr val="000000"/>
              </a:solidFill>
              <a:prstDash val="solid"/>
              <a:headEnd type="none" w="sm" len="sm"/>
              <a:tailEnd type="none" w="sm" len="sm"/>
            </a:ln>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70341" y="3502530"/>
            <a:ext cx="8232192" cy="5829298"/>
          </a:xfrm>
          <a:prstGeom prst="rect">
            <a:avLst/>
          </a:prstGeom>
        </p:spPr>
        <p:txBody>
          <a:bodyPr lIns="0" tIns="0" rIns="0" bIns="0" rtlCol="0" anchor="t">
            <a:spAutoFit/>
          </a:bodyPr>
          <a:lstStyle/>
          <a:p>
            <a:pPr marL="842016" lvl="1" indent="-421008" algn="just">
              <a:lnSpc>
                <a:spcPts val="6630"/>
              </a:lnSpc>
              <a:buFont typeface="Arial"/>
              <a:buChar char="•"/>
            </a:pPr>
            <a:r>
              <a:rPr lang="en-US" sz="3900">
                <a:solidFill>
                  <a:srgbClr val="000000"/>
                </a:solidFill>
                <a:latin typeface="Arial"/>
                <a:ea typeface="Arial"/>
                <a:cs typeface="Arial"/>
                <a:sym typeface="Arial"/>
              </a:rPr>
              <a:t>Quản trị viên (Admin): Quản lý hệ thống, nhân viên, danh mục và xem báo cáo.</a:t>
            </a:r>
          </a:p>
          <a:p>
            <a:pPr marL="842016" lvl="1" indent="-421008" algn="just">
              <a:lnSpc>
                <a:spcPts val="6630"/>
              </a:lnSpc>
              <a:buFont typeface="Arial"/>
              <a:buChar char="•"/>
            </a:pPr>
            <a:r>
              <a:rPr lang="en-US" sz="3900">
                <a:solidFill>
                  <a:srgbClr val="000000"/>
                </a:solidFill>
                <a:latin typeface="Arial"/>
                <a:ea typeface="Arial"/>
                <a:cs typeface="Arial"/>
                <a:sym typeface="Arial"/>
              </a:rPr>
              <a:t>Nhân viên bán hàng (Staff): Thực hiện thao tác bán hàng, lập hóa đơn và tra cứu sản phẩm.</a:t>
            </a:r>
          </a:p>
          <a:p>
            <a:pPr algn="just">
              <a:lnSpc>
                <a:spcPts val="6630"/>
              </a:lnSpc>
            </a:pPr>
            <a:endParaRPr lang="en-US" sz="3900">
              <a:solidFill>
                <a:srgbClr val="000000"/>
              </a:solidFill>
              <a:latin typeface="Arial"/>
              <a:ea typeface="Arial"/>
              <a:cs typeface="Arial"/>
              <a:sym typeface="Arial"/>
            </a:endParaRPr>
          </a:p>
        </p:txBody>
      </p:sp>
      <p:sp>
        <p:nvSpPr>
          <p:cNvPr id="6" name="TextBox 6"/>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4</a:t>
            </a:r>
          </a:p>
        </p:txBody>
      </p:sp>
      <p:sp>
        <p:nvSpPr>
          <p:cNvPr id="7" name="TextBox 7"/>
          <p:cNvSpPr txBox="1"/>
          <p:nvPr/>
        </p:nvSpPr>
        <p:spPr>
          <a:xfrm>
            <a:off x="283426" y="1664841"/>
            <a:ext cx="9986120"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3. PHẠM VI ĐỀ TÀI</a:t>
            </a:r>
          </a:p>
        </p:txBody>
      </p:sp>
      <p:sp>
        <p:nvSpPr>
          <p:cNvPr id="8" name="TextBox 8"/>
          <p:cNvSpPr txBox="1"/>
          <p:nvPr/>
        </p:nvSpPr>
        <p:spPr>
          <a:xfrm>
            <a:off x="283426" y="2739261"/>
            <a:ext cx="9723551" cy="681989"/>
          </a:xfrm>
          <a:prstGeom prst="rect">
            <a:avLst/>
          </a:prstGeom>
        </p:spPr>
        <p:txBody>
          <a:bodyPr lIns="0" tIns="0" rIns="0" bIns="0" rtlCol="0" anchor="t">
            <a:spAutoFit/>
          </a:bodyPr>
          <a:lstStyle/>
          <a:p>
            <a:pPr algn="just">
              <a:lnSpc>
                <a:spcPts val="5460"/>
              </a:lnSpc>
            </a:pPr>
            <a:r>
              <a:rPr lang="en-US" sz="3900" b="1">
                <a:solidFill>
                  <a:srgbClr val="000000"/>
                </a:solidFill>
                <a:latin typeface="Arial Bold"/>
                <a:ea typeface="Arial Bold"/>
                <a:cs typeface="Arial Bold"/>
                <a:sym typeface="Arial Bold"/>
              </a:rPr>
              <a:t>Đối tượng sử dụng:</a:t>
            </a:r>
          </a:p>
        </p:txBody>
      </p:sp>
      <p:sp>
        <p:nvSpPr>
          <p:cNvPr id="9" name="TextBox 9"/>
          <p:cNvSpPr txBox="1"/>
          <p:nvPr/>
        </p:nvSpPr>
        <p:spPr>
          <a:xfrm>
            <a:off x="9619230" y="3668900"/>
            <a:ext cx="8027451" cy="4152898"/>
          </a:xfrm>
          <a:prstGeom prst="rect">
            <a:avLst/>
          </a:prstGeom>
        </p:spPr>
        <p:txBody>
          <a:bodyPr lIns="0" tIns="0" rIns="0" bIns="0" rtlCol="0" anchor="t">
            <a:spAutoFit/>
          </a:bodyPr>
          <a:lstStyle/>
          <a:p>
            <a:pPr marL="842016" lvl="1" indent="-421008" algn="just">
              <a:lnSpc>
                <a:spcPts val="6630"/>
              </a:lnSpc>
              <a:buFont typeface="Arial"/>
              <a:buChar char="•"/>
            </a:pPr>
            <a:r>
              <a:rPr lang="en-US" sz="3900">
                <a:solidFill>
                  <a:srgbClr val="000000"/>
                </a:solidFill>
                <a:latin typeface="Arial"/>
                <a:ea typeface="Arial"/>
                <a:cs typeface="Arial"/>
                <a:sym typeface="Arial"/>
              </a:rPr>
              <a:t>Triển khai trên máy tính để bàn (Desktop Application).</a:t>
            </a:r>
          </a:p>
          <a:p>
            <a:pPr marL="842016" lvl="1" indent="-421008" algn="just">
              <a:lnSpc>
                <a:spcPts val="6630"/>
              </a:lnSpc>
              <a:buFont typeface="Arial"/>
              <a:buChar char="•"/>
            </a:pPr>
            <a:r>
              <a:rPr lang="en-US" sz="3900">
                <a:solidFill>
                  <a:srgbClr val="000000"/>
                </a:solidFill>
                <a:latin typeface="Arial"/>
                <a:ea typeface="Arial"/>
                <a:cs typeface="Arial"/>
                <a:sym typeface="Arial"/>
              </a:rPr>
              <a:t>Mô hình hoạt động: Offline hoặc mạng nội bộ tại cửa hàng.</a:t>
            </a:r>
          </a:p>
          <a:p>
            <a:pPr algn="just">
              <a:lnSpc>
                <a:spcPts val="6630"/>
              </a:lnSpc>
            </a:pPr>
            <a:endParaRPr lang="en-US" sz="3900">
              <a:solidFill>
                <a:srgbClr val="000000"/>
              </a:solidFill>
              <a:latin typeface="Arial"/>
              <a:ea typeface="Arial"/>
              <a:cs typeface="Arial"/>
              <a:sym typeface="Arial"/>
            </a:endParaRPr>
          </a:p>
        </p:txBody>
      </p:sp>
      <p:sp>
        <p:nvSpPr>
          <p:cNvPr id="10" name="TextBox 10"/>
          <p:cNvSpPr txBox="1"/>
          <p:nvPr/>
        </p:nvSpPr>
        <p:spPr>
          <a:xfrm>
            <a:off x="10006977" y="2758311"/>
            <a:ext cx="9723551" cy="681989"/>
          </a:xfrm>
          <a:prstGeom prst="rect">
            <a:avLst/>
          </a:prstGeom>
        </p:spPr>
        <p:txBody>
          <a:bodyPr lIns="0" tIns="0" rIns="0" bIns="0" rtlCol="0" anchor="t">
            <a:spAutoFit/>
          </a:bodyPr>
          <a:lstStyle/>
          <a:p>
            <a:pPr algn="just">
              <a:lnSpc>
                <a:spcPts val="5460"/>
              </a:lnSpc>
            </a:pPr>
            <a:r>
              <a:rPr lang="en-US" sz="3900" b="1">
                <a:solidFill>
                  <a:srgbClr val="000000"/>
                </a:solidFill>
                <a:latin typeface="Arial Bold"/>
                <a:ea typeface="Arial Bold"/>
                <a:cs typeface="Arial Bold"/>
                <a:sym typeface="Arial Bold"/>
              </a:rPr>
              <a:t>Môi trường triển khai: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grpSp>
        <p:nvGrpSpPr>
          <p:cNvPr id="4" name="Group 4"/>
          <p:cNvGrpSpPr/>
          <p:nvPr/>
        </p:nvGrpSpPr>
        <p:grpSpPr>
          <a:xfrm>
            <a:off x="9758703" y="2691636"/>
            <a:ext cx="8168728" cy="1679349"/>
            <a:chOff x="0" y="0"/>
            <a:chExt cx="10891637" cy="2239132"/>
          </a:xfrm>
        </p:grpSpPr>
        <p:sp>
          <p:nvSpPr>
            <p:cNvPr id="5" name="Freeform 5"/>
            <p:cNvSpPr/>
            <p:nvPr/>
          </p:nvSpPr>
          <p:spPr>
            <a:xfrm>
              <a:off x="0" y="0"/>
              <a:ext cx="2080950" cy="2239132"/>
            </a:xfrm>
            <a:custGeom>
              <a:avLst/>
              <a:gdLst/>
              <a:ahLst/>
              <a:cxnLst/>
              <a:rect l="l" t="t" r="r" b="b"/>
              <a:pathLst>
                <a:path w="2080950" h="2239132">
                  <a:moveTo>
                    <a:pt x="0" y="0"/>
                  </a:moveTo>
                  <a:lnTo>
                    <a:pt x="2080950" y="0"/>
                  </a:lnTo>
                  <a:lnTo>
                    <a:pt x="2080950" y="2239132"/>
                  </a:lnTo>
                  <a:lnTo>
                    <a:pt x="0" y="2239132"/>
                  </a:lnTo>
                  <a:lnTo>
                    <a:pt x="0" y="0"/>
                  </a:lnTo>
                  <a:close/>
                </a:path>
              </a:pathLst>
            </a:custGeom>
            <a:blipFill>
              <a:blip r:embed="rId4"/>
              <a:stretch>
                <a:fillRect l="-42438" t="-802" r="-45267" b="-11341"/>
              </a:stretch>
            </a:blipFill>
          </p:spPr>
        </p:sp>
        <p:sp>
          <p:nvSpPr>
            <p:cNvPr id="6" name="Freeform 6"/>
            <p:cNvSpPr/>
            <p:nvPr/>
          </p:nvSpPr>
          <p:spPr>
            <a:xfrm>
              <a:off x="2659113" y="128049"/>
              <a:ext cx="2064605" cy="1983035"/>
            </a:xfrm>
            <a:custGeom>
              <a:avLst/>
              <a:gdLst/>
              <a:ahLst/>
              <a:cxnLst/>
              <a:rect l="l" t="t" r="r" b="b"/>
              <a:pathLst>
                <a:path w="2064605" h="1983035">
                  <a:moveTo>
                    <a:pt x="0" y="0"/>
                  </a:moveTo>
                  <a:lnTo>
                    <a:pt x="2064604" y="0"/>
                  </a:lnTo>
                  <a:lnTo>
                    <a:pt x="2064604" y="1983035"/>
                  </a:lnTo>
                  <a:lnTo>
                    <a:pt x="0" y="1983035"/>
                  </a:lnTo>
                  <a:lnTo>
                    <a:pt x="0" y="0"/>
                  </a:lnTo>
                  <a:close/>
                </a:path>
              </a:pathLst>
            </a:custGeom>
            <a:blipFill>
              <a:blip r:embed="rId5"/>
              <a:stretch>
                <a:fillRect l="-35377" r="-35377"/>
              </a:stretch>
            </a:blipFill>
            <a:ln cap="sq">
              <a:noFill/>
              <a:prstDash val="solid"/>
              <a:miter/>
            </a:ln>
          </p:spPr>
        </p:sp>
        <p:sp>
          <p:nvSpPr>
            <p:cNvPr id="7" name="Freeform 7"/>
            <p:cNvSpPr/>
            <p:nvPr/>
          </p:nvSpPr>
          <p:spPr>
            <a:xfrm>
              <a:off x="5304740" y="1533"/>
              <a:ext cx="1900517" cy="2236066"/>
            </a:xfrm>
            <a:custGeom>
              <a:avLst/>
              <a:gdLst/>
              <a:ahLst/>
              <a:cxnLst/>
              <a:rect l="l" t="t" r="r" b="b"/>
              <a:pathLst>
                <a:path w="1900517" h="2236066">
                  <a:moveTo>
                    <a:pt x="0" y="0"/>
                  </a:moveTo>
                  <a:lnTo>
                    <a:pt x="1900517" y="0"/>
                  </a:lnTo>
                  <a:lnTo>
                    <a:pt x="1900517" y="2236066"/>
                  </a:lnTo>
                  <a:lnTo>
                    <a:pt x="0" y="2236066"/>
                  </a:lnTo>
                  <a:lnTo>
                    <a:pt x="0" y="0"/>
                  </a:lnTo>
                  <a:close/>
                </a:path>
              </a:pathLst>
            </a:custGeom>
            <a:blipFill>
              <a:blip r:embed="rId6"/>
              <a:stretch>
                <a:fillRect l="-28782" r="-28294"/>
              </a:stretch>
            </a:blipFill>
          </p:spPr>
        </p:sp>
        <p:sp>
          <p:nvSpPr>
            <p:cNvPr id="8" name="Freeform 8"/>
            <p:cNvSpPr/>
            <p:nvPr/>
          </p:nvSpPr>
          <p:spPr>
            <a:xfrm>
              <a:off x="7786280" y="84447"/>
              <a:ext cx="3105357" cy="2070238"/>
            </a:xfrm>
            <a:custGeom>
              <a:avLst/>
              <a:gdLst/>
              <a:ahLst/>
              <a:cxnLst/>
              <a:rect l="l" t="t" r="r" b="b"/>
              <a:pathLst>
                <a:path w="3105357" h="2070238">
                  <a:moveTo>
                    <a:pt x="0" y="0"/>
                  </a:moveTo>
                  <a:lnTo>
                    <a:pt x="3105357" y="0"/>
                  </a:lnTo>
                  <a:lnTo>
                    <a:pt x="3105357" y="2070238"/>
                  </a:lnTo>
                  <a:lnTo>
                    <a:pt x="0" y="2070238"/>
                  </a:lnTo>
                  <a:lnTo>
                    <a:pt x="0" y="0"/>
                  </a:lnTo>
                  <a:close/>
                </a:path>
              </a:pathLst>
            </a:custGeom>
            <a:blipFill>
              <a:blip r:embed="rId7"/>
              <a:stretch>
                <a:fillRect/>
              </a:stretch>
            </a:blipFill>
          </p:spPr>
        </p:sp>
      </p:grpSp>
      <p:sp>
        <p:nvSpPr>
          <p:cNvPr id="9" name="Freeform 9"/>
          <p:cNvSpPr/>
          <p:nvPr/>
        </p:nvSpPr>
        <p:spPr>
          <a:xfrm>
            <a:off x="9685517" y="5143500"/>
            <a:ext cx="8602483" cy="4810207"/>
          </a:xfrm>
          <a:custGeom>
            <a:avLst/>
            <a:gdLst/>
            <a:ahLst/>
            <a:cxnLst/>
            <a:rect l="l" t="t" r="r" b="b"/>
            <a:pathLst>
              <a:path w="8602483" h="4810207">
                <a:moveTo>
                  <a:pt x="0" y="0"/>
                </a:moveTo>
                <a:lnTo>
                  <a:pt x="8602483" y="0"/>
                </a:lnTo>
                <a:lnTo>
                  <a:pt x="8602483" y="4810207"/>
                </a:lnTo>
                <a:lnTo>
                  <a:pt x="0" y="4810207"/>
                </a:lnTo>
                <a:lnTo>
                  <a:pt x="0" y="0"/>
                </a:lnTo>
                <a:close/>
              </a:path>
            </a:pathLst>
          </a:custGeom>
          <a:blipFill>
            <a:blip r:embed="rId8"/>
            <a:stretch>
              <a:fillRect l="-14869" t="-11154" r="-11633" b="-15820"/>
            </a:stretch>
          </a:blipFill>
        </p:spPr>
      </p:sp>
      <p:sp>
        <p:nvSpPr>
          <p:cNvPr id="10" name="TextBox 10"/>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11" name="TextBox 11"/>
          <p:cNvSpPr txBox="1"/>
          <p:nvPr/>
        </p:nvSpPr>
        <p:spPr>
          <a:xfrm>
            <a:off x="-134075" y="2320161"/>
            <a:ext cx="9278075" cy="7664689"/>
          </a:xfrm>
          <a:prstGeom prst="rect">
            <a:avLst/>
          </a:prstGeom>
        </p:spPr>
        <p:txBody>
          <a:bodyPr lIns="0" tIns="0" rIns="0" bIns="0" rtlCol="0" anchor="t">
            <a:spAutoFit/>
          </a:bodyPr>
          <a:lstStyle/>
          <a:p>
            <a:pPr marL="817943" lvl="1" indent="-408972" algn="just">
              <a:lnSpc>
                <a:spcPts val="6819"/>
              </a:lnSpc>
              <a:buFont typeface="Arial"/>
              <a:buChar char="•"/>
            </a:pPr>
            <a:r>
              <a:rPr lang="en-US" sz="3788" b="1" spc="-45">
                <a:solidFill>
                  <a:srgbClr val="000000"/>
                </a:solidFill>
                <a:latin typeface="Arial Bold"/>
                <a:ea typeface="Arial Bold"/>
                <a:cs typeface="Arial Bold"/>
                <a:sym typeface="Arial Bold"/>
              </a:rPr>
              <a:t>C# (WinForms): </a:t>
            </a:r>
            <a:r>
              <a:rPr lang="en-US" sz="3788" spc="-45">
                <a:solidFill>
                  <a:srgbClr val="000000"/>
                </a:solidFill>
                <a:latin typeface="Arial"/>
                <a:ea typeface="Arial"/>
                <a:cs typeface="Arial"/>
                <a:sym typeface="Arial"/>
              </a:rPr>
              <a:t>Phát triển ứng dụng Desktop nhanh chóng, tương thích tốt với môi trường Windows, thư viện hỗ trợ phong phú.</a:t>
            </a:r>
          </a:p>
          <a:p>
            <a:pPr marL="817943" lvl="1" indent="-408972" algn="just">
              <a:lnSpc>
                <a:spcPts val="6819"/>
              </a:lnSpc>
              <a:buFont typeface="Arial"/>
              <a:buChar char="•"/>
            </a:pPr>
            <a:r>
              <a:rPr lang="en-US" sz="3788" b="1">
                <a:solidFill>
                  <a:srgbClr val="000000"/>
                </a:solidFill>
                <a:latin typeface="Arial Bold"/>
                <a:ea typeface="Arial Bold"/>
                <a:cs typeface="Arial Bold"/>
                <a:sym typeface="Arial Bold"/>
              </a:rPr>
              <a:t>SQL Server:</a:t>
            </a:r>
            <a:r>
              <a:rPr lang="en-US" sz="3788">
                <a:solidFill>
                  <a:srgbClr val="000000"/>
                </a:solidFill>
                <a:latin typeface="Arial"/>
                <a:ea typeface="Arial"/>
                <a:cs typeface="Arial"/>
                <a:sym typeface="Arial"/>
              </a:rPr>
              <a:t> Hệ quản trị CSDL mạnh mẽ, đảm bảo tính toàn vẹn dữ liệu và hỗ trợ truy vấn phức tạp.</a:t>
            </a:r>
          </a:p>
          <a:p>
            <a:pPr marL="817943" lvl="1" indent="-408972" algn="just">
              <a:lnSpc>
                <a:spcPts val="6819"/>
              </a:lnSpc>
              <a:buFont typeface="Arial"/>
              <a:buChar char="•"/>
            </a:pPr>
            <a:r>
              <a:rPr lang="en-US" sz="3788" b="1">
                <a:solidFill>
                  <a:srgbClr val="000000"/>
                </a:solidFill>
                <a:latin typeface="Arial Bold"/>
                <a:ea typeface="Arial Bold"/>
                <a:cs typeface="Arial Bold"/>
                <a:sym typeface="Arial Bold"/>
              </a:rPr>
              <a:t>Kiến trúc: </a:t>
            </a:r>
            <a:r>
              <a:rPr lang="en-US" sz="3788">
                <a:solidFill>
                  <a:srgbClr val="000000"/>
                </a:solidFill>
                <a:latin typeface="Arial"/>
                <a:ea typeface="Arial"/>
                <a:cs typeface="Arial"/>
                <a:sym typeface="Arial"/>
              </a:rPr>
              <a:t>Mô hình 3 lớp tách biệt giao diện và xử lý dữ liệu.</a:t>
            </a:r>
          </a:p>
        </p:txBody>
      </p:sp>
      <p:sp>
        <p:nvSpPr>
          <p:cNvPr id="12" name="TextBox 12"/>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5</a:t>
            </a:r>
          </a:p>
        </p:txBody>
      </p:sp>
      <p:sp>
        <p:nvSpPr>
          <p:cNvPr id="13" name="TextBox 13"/>
          <p:cNvSpPr txBox="1"/>
          <p:nvPr/>
        </p:nvSpPr>
        <p:spPr>
          <a:xfrm>
            <a:off x="283426" y="1664841"/>
            <a:ext cx="9986120"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4. CÔNG NGHỆ SỬ DỤNG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3229991" y="5451793"/>
            <a:ext cx="11847068" cy="5035232"/>
          </a:xfrm>
          <a:custGeom>
            <a:avLst/>
            <a:gdLst/>
            <a:ahLst/>
            <a:cxnLst/>
            <a:rect l="l" t="t" r="r" b="b"/>
            <a:pathLst>
              <a:path w="11847068" h="5035232">
                <a:moveTo>
                  <a:pt x="0" y="0"/>
                </a:moveTo>
                <a:lnTo>
                  <a:pt x="11847068" y="0"/>
                </a:lnTo>
                <a:lnTo>
                  <a:pt x="11847068" y="5035232"/>
                </a:lnTo>
                <a:lnTo>
                  <a:pt x="0" y="5035232"/>
                </a:lnTo>
                <a:lnTo>
                  <a:pt x="0" y="0"/>
                </a:lnTo>
                <a:close/>
              </a:path>
            </a:pathLst>
          </a:custGeom>
          <a:blipFill>
            <a:blip r:embed="rId4"/>
            <a:stretch>
              <a:fillRect l="-3302" t="-4306" r="-4128" b="-210"/>
            </a:stretch>
          </a:blipFill>
        </p:spPr>
      </p:sp>
      <p:sp>
        <p:nvSpPr>
          <p:cNvPr id="5" name="TextBox 5"/>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6" name="TextBox 6"/>
          <p:cNvSpPr txBox="1"/>
          <p:nvPr/>
        </p:nvSpPr>
        <p:spPr>
          <a:xfrm>
            <a:off x="-117966" y="2672586"/>
            <a:ext cx="8783431" cy="3392803"/>
          </a:xfrm>
          <a:prstGeom prst="rect">
            <a:avLst/>
          </a:prstGeom>
        </p:spPr>
        <p:txBody>
          <a:bodyPr lIns="0" tIns="0" rIns="0" bIns="0" rtlCol="0" anchor="t">
            <a:spAutoFit/>
          </a:bodyPr>
          <a:lstStyle/>
          <a:p>
            <a:pPr marL="842016" lvl="1" indent="-421008" algn="just">
              <a:lnSpc>
                <a:spcPts val="7020"/>
              </a:lnSpc>
              <a:buFont typeface="Arial"/>
              <a:buChar char="•"/>
            </a:pPr>
            <a:r>
              <a:rPr lang="en-US" sz="3900" b="1">
                <a:solidFill>
                  <a:srgbClr val="000000"/>
                </a:solidFill>
                <a:latin typeface="Arial Bold"/>
                <a:ea typeface="Arial Bold"/>
                <a:cs typeface="Arial Bold"/>
                <a:sym typeface="Arial Bold"/>
              </a:rPr>
              <a:t>Quản lý:</a:t>
            </a:r>
            <a:r>
              <a:rPr lang="en-US" sz="3900">
                <a:solidFill>
                  <a:srgbClr val="000000"/>
                </a:solidFill>
                <a:latin typeface="Arial"/>
                <a:ea typeface="Arial"/>
                <a:cs typeface="Arial"/>
                <a:sym typeface="Arial"/>
              </a:rPr>
              <a:t> Quản lý được phép truy cập tất cả các danh mục kể cả bán hàng và xem lịch sử bán hàng.</a:t>
            </a:r>
          </a:p>
          <a:p>
            <a:pPr algn="just">
              <a:lnSpc>
                <a:spcPts val="5460"/>
              </a:lnSpc>
            </a:pPr>
            <a:endParaRPr lang="en-US" sz="3900">
              <a:solidFill>
                <a:srgbClr val="000000"/>
              </a:solidFill>
              <a:latin typeface="Arial"/>
              <a:ea typeface="Arial"/>
              <a:cs typeface="Arial"/>
              <a:sym typeface="Arial"/>
            </a:endParaRPr>
          </a:p>
        </p:txBody>
      </p:sp>
      <p:sp>
        <p:nvSpPr>
          <p:cNvPr id="7" name="TextBox 7"/>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6</a:t>
            </a:r>
          </a:p>
        </p:txBody>
      </p:sp>
      <p:sp>
        <p:nvSpPr>
          <p:cNvPr id="8" name="TextBox 8"/>
          <p:cNvSpPr txBox="1"/>
          <p:nvPr/>
        </p:nvSpPr>
        <p:spPr>
          <a:xfrm>
            <a:off x="283426" y="1664841"/>
            <a:ext cx="9986120"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5. PHÂN TÍCH HỆ THỐNG</a:t>
            </a:r>
          </a:p>
        </p:txBody>
      </p:sp>
      <p:sp>
        <p:nvSpPr>
          <p:cNvPr id="9" name="TextBox 9"/>
          <p:cNvSpPr txBox="1"/>
          <p:nvPr/>
        </p:nvSpPr>
        <p:spPr>
          <a:xfrm>
            <a:off x="9039225" y="2731137"/>
            <a:ext cx="9297410" cy="2506978"/>
          </a:xfrm>
          <a:prstGeom prst="rect">
            <a:avLst/>
          </a:prstGeom>
        </p:spPr>
        <p:txBody>
          <a:bodyPr lIns="0" tIns="0" rIns="0" bIns="0" rtlCol="0" anchor="t">
            <a:spAutoFit/>
          </a:bodyPr>
          <a:lstStyle/>
          <a:p>
            <a:pPr marL="842016" lvl="1" indent="-421008" algn="l">
              <a:lnSpc>
                <a:spcPts val="7020"/>
              </a:lnSpc>
              <a:buFont typeface="Arial"/>
              <a:buChar char="•"/>
            </a:pPr>
            <a:r>
              <a:rPr lang="en-US" sz="3900" b="1">
                <a:solidFill>
                  <a:srgbClr val="000000"/>
                </a:solidFill>
                <a:latin typeface="Arial Bold"/>
                <a:ea typeface="Arial Bold"/>
                <a:cs typeface="Arial Bold"/>
                <a:sym typeface="Arial Bold"/>
              </a:rPr>
              <a:t>Nhân viên:</a:t>
            </a:r>
            <a:r>
              <a:rPr lang="en-US" sz="3900">
                <a:solidFill>
                  <a:srgbClr val="000000"/>
                </a:solidFill>
                <a:latin typeface="Arial"/>
                <a:ea typeface="Arial"/>
                <a:cs typeface="Arial"/>
                <a:sym typeface="Arial"/>
              </a:rPr>
              <a:t> Đăng nhập, đổi mật khẩu, thêm khách hàng, bán hàng.</a:t>
            </a:r>
          </a:p>
          <a:p>
            <a:pPr algn="l">
              <a:lnSpc>
                <a:spcPts val="5460"/>
              </a:lnSpc>
            </a:pPr>
            <a:endParaRPr lang="en-US" sz="39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79866" y="2672586"/>
            <a:ext cx="9223866" cy="5164453"/>
          </a:xfrm>
          <a:prstGeom prst="rect">
            <a:avLst/>
          </a:prstGeom>
        </p:spPr>
        <p:txBody>
          <a:bodyPr lIns="0" tIns="0" rIns="0" bIns="0" rtlCol="0" anchor="t">
            <a:spAutoFit/>
          </a:bodyPr>
          <a:lstStyle/>
          <a:p>
            <a:pPr marL="842016" lvl="1" indent="-421008" algn="l">
              <a:lnSpc>
                <a:spcPts val="7020"/>
              </a:lnSpc>
              <a:buFont typeface="Arial"/>
              <a:buChar char="•"/>
            </a:pPr>
            <a:r>
              <a:rPr lang="en-US" sz="3900">
                <a:solidFill>
                  <a:srgbClr val="000000"/>
                </a:solidFill>
                <a:latin typeface="Arial"/>
                <a:ea typeface="Arial"/>
                <a:cs typeface="Arial"/>
                <a:sym typeface="Arial"/>
              </a:rPr>
              <a:t>SANPHAM (Thông tin hàng hóa).</a:t>
            </a:r>
          </a:p>
          <a:p>
            <a:pPr marL="842016" lvl="1" indent="-421008" algn="l">
              <a:lnSpc>
                <a:spcPts val="7020"/>
              </a:lnSpc>
              <a:buFont typeface="Arial"/>
              <a:buChar char="•"/>
            </a:pPr>
            <a:r>
              <a:rPr lang="en-US" sz="3900">
                <a:solidFill>
                  <a:srgbClr val="000000"/>
                </a:solidFill>
                <a:latin typeface="Arial"/>
                <a:ea typeface="Arial"/>
                <a:cs typeface="Arial"/>
                <a:sym typeface="Arial"/>
              </a:rPr>
              <a:t>KHACHHANG (Người mua).</a:t>
            </a:r>
          </a:p>
          <a:p>
            <a:pPr marL="842016" lvl="1" indent="-421008" algn="l">
              <a:lnSpc>
                <a:spcPts val="7020"/>
              </a:lnSpc>
              <a:buFont typeface="Arial"/>
              <a:buChar char="•"/>
            </a:pPr>
            <a:r>
              <a:rPr lang="en-US" sz="3900">
                <a:solidFill>
                  <a:srgbClr val="000000"/>
                </a:solidFill>
                <a:latin typeface="Arial"/>
                <a:ea typeface="Arial"/>
                <a:cs typeface="Arial"/>
                <a:sym typeface="Arial"/>
              </a:rPr>
              <a:t>DONHANG &amp; CHITIETHOADON (Lưu giao dịch).</a:t>
            </a:r>
          </a:p>
          <a:p>
            <a:pPr marL="842016" lvl="1" indent="-421008" algn="l">
              <a:lnSpc>
                <a:spcPts val="7020"/>
              </a:lnSpc>
              <a:buFont typeface="Arial"/>
              <a:buChar char="•"/>
            </a:pPr>
            <a:r>
              <a:rPr lang="en-US" sz="3900">
                <a:solidFill>
                  <a:srgbClr val="000000"/>
                </a:solidFill>
                <a:latin typeface="Arial"/>
                <a:ea typeface="Arial"/>
                <a:cs typeface="Arial"/>
                <a:sym typeface="Arial"/>
              </a:rPr>
              <a:t>NGUOIDUNG (Tài khoản đăng nhập).</a:t>
            </a:r>
          </a:p>
          <a:p>
            <a:pPr algn="l">
              <a:lnSpc>
                <a:spcPts val="5460"/>
              </a:lnSpc>
            </a:pPr>
            <a:endParaRPr lang="en-US" sz="3900">
              <a:solidFill>
                <a:srgbClr val="000000"/>
              </a:solidFill>
              <a:latin typeface="Arial"/>
              <a:ea typeface="Arial"/>
              <a:cs typeface="Arial"/>
              <a:sym typeface="Arial"/>
            </a:endParaRPr>
          </a:p>
        </p:txBody>
      </p:sp>
      <p:sp>
        <p:nvSpPr>
          <p:cNvPr id="6" name="TextBox 6"/>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7</a:t>
            </a:r>
          </a:p>
        </p:txBody>
      </p:sp>
      <p:sp>
        <p:nvSpPr>
          <p:cNvPr id="7" name="TextBox 7"/>
          <p:cNvSpPr txBox="1"/>
          <p:nvPr/>
        </p:nvSpPr>
        <p:spPr>
          <a:xfrm>
            <a:off x="283426" y="1664841"/>
            <a:ext cx="9986120"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6. THIẾT KẾ CƠ SỞ DỮ LIỆU</a:t>
            </a:r>
          </a:p>
        </p:txBody>
      </p:sp>
      <p:sp>
        <p:nvSpPr>
          <p:cNvPr id="8" name="Freeform 8"/>
          <p:cNvSpPr/>
          <p:nvPr/>
        </p:nvSpPr>
        <p:spPr>
          <a:xfrm>
            <a:off x="10058520" y="1461469"/>
            <a:ext cx="7248405" cy="8777906"/>
          </a:xfrm>
          <a:custGeom>
            <a:avLst/>
            <a:gdLst/>
            <a:ahLst/>
            <a:cxnLst/>
            <a:rect l="l" t="t" r="r" b="b"/>
            <a:pathLst>
              <a:path w="7248405" h="8777906">
                <a:moveTo>
                  <a:pt x="0" y="0"/>
                </a:moveTo>
                <a:lnTo>
                  <a:pt x="7248405" y="0"/>
                </a:lnTo>
                <a:lnTo>
                  <a:pt x="7248405" y="8777906"/>
                </a:lnTo>
                <a:lnTo>
                  <a:pt x="0" y="8777906"/>
                </a:lnTo>
                <a:lnTo>
                  <a:pt x="0" y="0"/>
                </a:lnTo>
                <a:close/>
              </a:path>
            </a:pathLst>
          </a:custGeom>
          <a:blipFill>
            <a:blip r:embed="rId4"/>
            <a:stretch>
              <a:fillRect l="-2046" t="-1646" r="-2046" b="-1448"/>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388201" y="2663061"/>
            <a:ext cx="17877083" cy="5829298"/>
          </a:xfrm>
          <a:prstGeom prst="rect">
            <a:avLst/>
          </a:prstGeom>
        </p:spPr>
        <p:txBody>
          <a:bodyPr lIns="0" tIns="0" rIns="0" bIns="0" rtlCol="0" anchor="t">
            <a:spAutoFit/>
          </a:bodyPr>
          <a:lstStyle/>
          <a:p>
            <a:pPr algn="l">
              <a:lnSpc>
                <a:spcPts val="6630"/>
              </a:lnSpc>
            </a:pPr>
            <a:r>
              <a:rPr lang="en-US" sz="3900" b="1">
                <a:solidFill>
                  <a:srgbClr val="000000"/>
                </a:solidFill>
                <a:latin typeface="Arial Bold"/>
                <a:ea typeface="Arial Bold"/>
                <a:cs typeface="Arial Bold"/>
                <a:sym typeface="Arial Bold"/>
              </a:rPr>
              <a:t>Kỹ thuật xóa mềm:</a:t>
            </a:r>
          </a:p>
          <a:p>
            <a:pPr marL="842016" lvl="1" indent="-421008" algn="l">
              <a:lnSpc>
                <a:spcPts val="6630"/>
              </a:lnSpc>
              <a:buFont typeface="Arial"/>
              <a:buChar char="•"/>
            </a:pPr>
            <a:r>
              <a:rPr lang="en-US" sz="3900">
                <a:solidFill>
                  <a:srgbClr val="000000"/>
                </a:solidFill>
                <a:latin typeface="Arial"/>
                <a:ea typeface="Arial"/>
                <a:cs typeface="Arial"/>
                <a:sym typeface="Arial"/>
              </a:rPr>
              <a:t>Không xóa vĩnh viễn dữ liệu.</a:t>
            </a:r>
          </a:p>
          <a:p>
            <a:pPr marL="842016" lvl="1" indent="-421008" algn="l">
              <a:lnSpc>
                <a:spcPts val="6630"/>
              </a:lnSpc>
              <a:buFont typeface="Arial"/>
              <a:buChar char="•"/>
            </a:pPr>
            <a:r>
              <a:rPr lang="en-US" sz="3900">
                <a:solidFill>
                  <a:srgbClr val="000000"/>
                </a:solidFill>
                <a:latin typeface="Arial"/>
                <a:ea typeface="Arial"/>
                <a:cs typeface="Arial"/>
                <a:sym typeface="Arial"/>
              </a:rPr>
              <a:t>Sử dụng cờ trạng thái DaXoa = 1 để ẩn dữ liệu ⟶ An toàn, khôi phục được.</a:t>
            </a:r>
          </a:p>
          <a:p>
            <a:pPr algn="l">
              <a:lnSpc>
                <a:spcPts val="6630"/>
              </a:lnSpc>
            </a:pPr>
            <a:r>
              <a:rPr lang="en-US" sz="3900" b="1">
                <a:solidFill>
                  <a:srgbClr val="000000"/>
                </a:solidFill>
                <a:latin typeface="Arial Bold"/>
                <a:ea typeface="Arial Bold"/>
                <a:cs typeface="Arial Bold"/>
                <a:sym typeface="Arial Bold"/>
              </a:rPr>
              <a:t>Lưu lịch sử giá bán:</a:t>
            </a:r>
          </a:p>
          <a:p>
            <a:pPr marL="842016" lvl="1" indent="-421008" algn="l">
              <a:lnSpc>
                <a:spcPts val="6630"/>
              </a:lnSpc>
              <a:buFont typeface="Arial"/>
              <a:buChar char="•"/>
            </a:pPr>
            <a:r>
              <a:rPr lang="en-US" sz="3900">
                <a:solidFill>
                  <a:srgbClr val="000000"/>
                </a:solidFill>
                <a:latin typeface="Arial"/>
                <a:ea typeface="Arial"/>
                <a:cs typeface="Arial"/>
                <a:sym typeface="Arial"/>
              </a:rPr>
              <a:t>Bảng CHITIETHOADON lưu riêng cột DonGiaTaiThoiDiemMua.</a:t>
            </a:r>
          </a:p>
          <a:p>
            <a:pPr marL="842016" lvl="1" indent="-421008" algn="l">
              <a:lnSpc>
                <a:spcPts val="6630"/>
              </a:lnSpc>
              <a:buFont typeface="Arial"/>
              <a:buChar char="•"/>
            </a:pPr>
            <a:r>
              <a:rPr lang="en-US" sz="3900">
                <a:solidFill>
                  <a:srgbClr val="000000"/>
                </a:solidFill>
                <a:latin typeface="Arial"/>
                <a:ea typeface="Arial"/>
                <a:cs typeface="Arial"/>
                <a:sym typeface="Arial"/>
              </a:rPr>
              <a:t>Đảm bảo doanh thu không bị sai lệch khi cập nhật giá sản phẩm gốc.</a:t>
            </a:r>
          </a:p>
          <a:p>
            <a:pPr algn="l">
              <a:lnSpc>
                <a:spcPts val="6630"/>
              </a:lnSpc>
            </a:pPr>
            <a:endParaRPr lang="en-US" sz="3900">
              <a:solidFill>
                <a:srgbClr val="000000"/>
              </a:solidFill>
              <a:latin typeface="Arial"/>
              <a:ea typeface="Arial"/>
              <a:cs typeface="Arial"/>
              <a:sym typeface="Arial"/>
            </a:endParaRPr>
          </a:p>
        </p:txBody>
      </p:sp>
      <p:sp>
        <p:nvSpPr>
          <p:cNvPr id="6" name="TextBox 6"/>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8</a:t>
            </a:r>
          </a:p>
        </p:txBody>
      </p:sp>
      <p:sp>
        <p:nvSpPr>
          <p:cNvPr id="7" name="TextBox 7"/>
          <p:cNvSpPr txBox="1"/>
          <p:nvPr/>
        </p:nvSpPr>
        <p:spPr>
          <a:xfrm>
            <a:off x="283426" y="1664841"/>
            <a:ext cx="9986120"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7. GIẢI PHÁP KỸ THUẬT NỔI BẬT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8680651" y="3129786"/>
            <a:ext cx="9246780" cy="6176703"/>
          </a:xfrm>
          <a:custGeom>
            <a:avLst/>
            <a:gdLst/>
            <a:ahLst/>
            <a:cxnLst/>
            <a:rect l="l" t="t" r="r" b="b"/>
            <a:pathLst>
              <a:path w="9246780" h="6176703">
                <a:moveTo>
                  <a:pt x="0" y="0"/>
                </a:moveTo>
                <a:lnTo>
                  <a:pt x="9246780" y="0"/>
                </a:lnTo>
                <a:lnTo>
                  <a:pt x="9246780" y="6176702"/>
                </a:lnTo>
                <a:lnTo>
                  <a:pt x="0" y="6176702"/>
                </a:lnTo>
                <a:lnTo>
                  <a:pt x="0" y="0"/>
                </a:lnTo>
                <a:close/>
              </a:path>
            </a:pathLst>
          </a:custGeom>
          <a:blipFill>
            <a:blip r:embed="rId4"/>
            <a:stretch>
              <a:fillRect/>
            </a:stretch>
          </a:blipFill>
        </p:spPr>
      </p:sp>
      <p:sp>
        <p:nvSpPr>
          <p:cNvPr id="5" name="TextBox 5"/>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6" name="TextBox 6"/>
          <p:cNvSpPr txBox="1"/>
          <p:nvPr/>
        </p:nvSpPr>
        <p:spPr>
          <a:xfrm>
            <a:off x="283426" y="2710686"/>
            <a:ext cx="7789025" cy="4991098"/>
          </a:xfrm>
          <a:prstGeom prst="rect">
            <a:avLst/>
          </a:prstGeom>
        </p:spPr>
        <p:txBody>
          <a:bodyPr lIns="0" tIns="0" rIns="0" bIns="0" rtlCol="0" anchor="t">
            <a:spAutoFit/>
          </a:bodyPr>
          <a:lstStyle/>
          <a:p>
            <a:pPr algn="just">
              <a:lnSpc>
                <a:spcPts val="6630"/>
              </a:lnSpc>
            </a:pPr>
            <a:r>
              <a:rPr lang="en-US" sz="3900">
                <a:solidFill>
                  <a:srgbClr val="000000"/>
                </a:solidFill>
                <a:latin typeface="Arial"/>
                <a:ea typeface="Arial"/>
                <a:cs typeface="Arial"/>
                <a:sym typeface="Arial"/>
              </a:rPr>
              <a:t>Bảo mật quyền truy cập rất quan trọng để bảo vệ thông tin. Phân quyền người dùng giúp chỉ định quyền dựa trên vai trò, ngăn truy cập trái phép và đảm bảo chỉ truy cập thông tin cần thiết.</a:t>
            </a:r>
          </a:p>
        </p:txBody>
      </p:sp>
      <p:sp>
        <p:nvSpPr>
          <p:cNvPr id="7" name="TextBox 7"/>
          <p:cNvSpPr txBox="1"/>
          <p:nvPr/>
        </p:nvSpPr>
        <p:spPr>
          <a:xfrm>
            <a:off x="17480230" y="372044"/>
            <a:ext cx="44720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9</a:t>
            </a:r>
          </a:p>
        </p:txBody>
      </p:sp>
      <p:sp>
        <p:nvSpPr>
          <p:cNvPr id="8" name="TextBox 8"/>
          <p:cNvSpPr txBox="1"/>
          <p:nvPr/>
        </p:nvSpPr>
        <p:spPr>
          <a:xfrm>
            <a:off x="283426" y="1664841"/>
            <a:ext cx="9986120"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8. GIAO DIỆN ĐĂNG NHẬP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7885813" y="2920236"/>
            <a:ext cx="10117818" cy="5552153"/>
          </a:xfrm>
          <a:custGeom>
            <a:avLst/>
            <a:gdLst/>
            <a:ahLst/>
            <a:cxnLst/>
            <a:rect l="l" t="t" r="r" b="b"/>
            <a:pathLst>
              <a:path w="10117818" h="5552153">
                <a:moveTo>
                  <a:pt x="0" y="0"/>
                </a:moveTo>
                <a:lnTo>
                  <a:pt x="10117818" y="0"/>
                </a:lnTo>
                <a:lnTo>
                  <a:pt x="10117818" y="5552152"/>
                </a:lnTo>
                <a:lnTo>
                  <a:pt x="0" y="5552152"/>
                </a:lnTo>
                <a:lnTo>
                  <a:pt x="0" y="0"/>
                </a:lnTo>
                <a:close/>
              </a:path>
            </a:pathLst>
          </a:custGeom>
          <a:blipFill>
            <a:blip r:embed="rId4"/>
            <a:stretch>
              <a:fillRect/>
            </a:stretch>
          </a:blipFill>
        </p:spPr>
      </p:sp>
      <p:sp>
        <p:nvSpPr>
          <p:cNvPr id="5" name="TextBox 5"/>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6" name="TextBox 6"/>
          <p:cNvSpPr txBox="1"/>
          <p:nvPr/>
        </p:nvSpPr>
        <p:spPr>
          <a:xfrm>
            <a:off x="-98916" y="2710686"/>
            <a:ext cx="7568791" cy="4980594"/>
          </a:xfrm>
          <a:prstGeom prst="rect">
            <a:avLst/>
          </a:prstGeom>
        </p:spPr>
        <p:txBody>
          <a:bodyPr lIns="0" tIns="0" rIns="0" bIns="0" rtlCol="0" anchor="t">
            <a:spAutoFit/>
          </a:bodyPr>
          <a:lstStyle/>
          <a:p>
            <a:pPr marL="842016" lvl="1" indent="-421008" algn="just">
              <a:lnSpc>
                <a:spcPts val="6630"/>
              </a:lnSpc>
              <a:buFont typeface="Arial"/>
              <a:buChar char="•"/>
            </a:pPr>
            <a:r>
              <a:rPr lang="en-US" sz="3900">
                <a:solidFill>
                  <a:srgbClr val="000000"/>
                </a:solidFill>
                <a:latin typeface="Arial"/>
                <a:ea typeface="Arial"/>
                <a:cs typeface="Arial"/>
                <a:sym typeface="Arial"/>
              </a:rPr>
              <a:t>Quản lý danh mục hàng hóa đa dạng với thông tin chi tiết (tên sản phẩm, giá bán, ...)</a:t>
            </a:r>
          </a:p>
          <a:p>
            <a:pPr marL="842016" lvl="1" indent="-421008" algn="just">
              <a:lnSpc>
                <a:spcPts val="6630"/>
              </a:lnSpc>
              <a:buFont typeface="Arial"/>
              <a:buChar char="•"/>
            </a:pPr>
            <a:r>
              <a:rPr lang="en-US" sz="3900" spc="-15">
                <a:solidFill>
                  <a:srgbClr val="000000"/>
                </a:solidFill>
                <a:latin typeface="Arial"/>
                <a:ea typeface="Arial"/>
                <a:cs typeface="Arial"/>
                <a:sym typeface="Arial"/>
              </a:rPr>
              <a:t>Cơ chế Xóa mềm: Đảm bảo dữ liệu không bị mất vĩnh viễn, hỗ trợ khôi phục khi cần thiết.</a:t>
            </a:r>
          </a:p>
        </p:txBody>
      </p:sp>
      <p:sp>
        <p:nvSpPr>
          <p:cNvPr id="7" name="TextBox 7"/>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10</a:t>
            </a:r>
          </a:p>
        </p:txBody>
      </p:sp>
      <p:sp>
        <p:nvSpPr>
          <p:cNvPr id="8" name="TextBox 8"/>
          <p:cNvSpPr txBox="1"/>
          <p:nvPr/>
        </p:nvSpPr>
        <p:spPr>
          <a:xfrm>
            <a:off x="283426" y="1664841"/>
            <a:ext cx="13314677"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9. GIAO DIỆN QUẢN LÝ SẢN PHẨM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7903815" y="2853561"/>
            <a:ext cx="10023615" cy="5776108"/>
          </a:xfrm>
          <a:custGeom>
            <a:avLst/>
            <a:gdLst/>
            <a:ahLst/>
            <a:cxnLst/>
            <a:rect l="l" t="t" r="r" b="b"/>
            <a:pathLst>
              <a:path w="10023615" h="5776108">
                <a:moveTo>
                  <a:pt x="0" y="0"/>
                </a:moveTo>
                <a:lnTo>
                  <a:pt x="10023616" y="0"/>
                </a:lnTo>
                <a:lnTo>
                  <a:pt x="10023616" y="5776108"/>
                </a:lnTo>
                <a:lnTo>
                  <a:pt x="0" y="5776108"/>
                </a:lnTo>
                <a:lnTo>
                  <a:pt x="0" y="0"/>
                </a:lnTo>
                <a:close/>
              </a:path>
            </a:pathLst>
          </a:custGeom>
          <a:blipFill>
            <a:blip r:embed="rId4"/>
            <a:stretch>
              <a:fillRect/>
            </a:stretch>
          </a:blipFill>
        </p:spPr>
      </p:sp>
      <p:sp>
        <p:nvSpPr>
          <p:cNvPr id="5" name="TextBox 5"/>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6" name="TextBox 6"/>
          <p:cNvSpPr txBox="1"/>
          <p:nvPr/>
        </p:nvSpPr>
        <p:spPr>
          <a:xfrm>
            <a:off x="-9525" y="2539236"/>
            <a:ext cx="7466421" cy="8265794"/>
          </a:xfrm>
          <a:prstGeom prst="rect">
            <a:avLst/>
          </a:prstGeom>
        </p:spPr>
        <p:txBody>
          <a:bodyPr lIns="0" tIns="0" rIns="0" bIns="0" rtlCol="0" anchor="t">
            <a:spAutoFit/>
          </a:bodyPr>
          <a:lstStyle/>
          <a:p>
            <a:pPr marL="842016" lvl="1" indent="-421008" algn="just">
              <a:lnSpc>
                <a:spcPts val="6630"/>
              </a:lnSpc>
              <a:buFont typeface="Arial"/>
              <a:buChar char="•"/>
            </a:pPr>
            <a:r>
              <a:rPr lang="en-US" sz="3900">
                <a:solidFill>
                  <a:srgbClr val="000000"/>
                </a:solidFill>
                <a:latin typeface="Arial"/>
                <a:ea typeface="Arial"/>
                <a:cs typeface="Arial"/>
                <a:sym typeface="Arial"/>
              </a:rPr>
              <a:t>Lưu trữ thông tin khách hàng (SĐT, Địa chỉ, ...)</a:t>
            </a:r>
          </a:p>
          <a:p>
            <a:pPr marL="842016" lvl="1" indent="-421008" algn="just">
              <a:lnSpc>
                <a:spcPts val="6630"/>
              </a:lnSpc>
              <a:buFont typeface="Arial"/>
              <a:buChar char="•"/>
            </a:pPr>
            <a:r>
              <a:rPr lang="en-US" sz="3900">
                <a:solidFill>
                  <a:srgbClr val="000000"/>
                </a:solidFill>
                <a:latin typeface="Arial"/>
                <a:ea typeface="Arial"/>
                <a:cs typeface="Arial"/>
                <a:sym typeface="Arial"/>
              </a:rPr>
              <a:t>Xây dựng hồ sơ khách hàng thân thiết.</a:t>
            </a:r>
          </a:p>
          <a:p>
            <a:pPr marL="842016" lvl="1" indent="-421008" algn="just">
              <a:lnSpc>
                <a:spcPts val="6630"/>
              </a:lnSpc>
              <a:buFont typeface="Arial"/>
              <a:buChar char="•"/>
            </a:pPr>
            <a:r>
              <a:rPr lang="en-US" sz="3900">
                <a:solidFill>
                  <a:srgbClr val="000000"/>
                </a:solidFill>
                <a:latin typeface="Arial"/>
                <a:ea typeface="Arial"/>
                <a:cs typeface="Arial"/>
                <a:sym typeface="Arial"/>
              </a:rPr>
              <a:t>Hỗ trợ tìm kiếm nhanh theo Số điện thoại hoặc Tên.</a:t>
            </a:r>
          </a:p>
          <a:p>
            <a:pPr marL="842016" lvl="1" indent="-421008" algn="just">
              <a:lnSpc>
                <a:spcPts val="6630"/>
              </a:lnSpc>
              <a:buFont typeface="Arial"/>
              <a:buChar char="•"/>
            </a:pPr>
            <a:r>
              <a:rPr lang="en-US" sz="3900">
                <a:solidFill>
                  <a:srgbClr val="000000"/>
                </a:solidFill>
                <a:latin typeface="Arial"/>
                <a:ea typeface="Arial"/>
                <a:cs typeface="Arial"/>
                <a:sym typeface="Arial"/>
              </a:rPr>
              <a:t>Làm cơ sở cho các chương trình khuyến mãi, chăm sóc sau bán hàng.</a:t>
            </a:r>
          </a:p>
          <a:p>
            <a:pPr algn="just">
              <a:lnSpc>
                <a:spcPts val="5460"/>
              </a:lnSpc>
            </a:pPr>
            <a:endParaRPr lang="en-US" sz="3900">
              <a:solidFill>
                <a:srgbClr val="000000"/>
              </a:solidFill>
              <a:latin typeface="Arial"/>
              <a:ea typeface="Arial"/>
              <a:cs typeface="Arial"/>
              <a:sym typeface="Arial"/>
            </a:endParaRPr>
          </a:p>
        </p:txBody>
      </p:sp>
      <p:sp>
        <p:nvSpPr>
          <p:cNvPr id="7" name="TextBox 7"/>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11</a:t>
            </a:r>
          </a:p>
        </p:txBody>
      </p:sp>
      <p:sp>
        <p:nvSpPr>
          <p:cNvPr id="8" name="TextBox 8"/>
          <p:cNvSpPr txBox="1"/>
          <p:nvPr/>
        </p:nvSpPr>
        <p:spPr>
          <a:xfrm>
            <a:off x="283426" y="1664841"/>
            <a:ext cx="13314677"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10. GIAO DIỆN QUẢN LÝ KHÁCH HÀNG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8006918" y="2920236"/>
            <a:ext cx="9920512" cy="5691894"/>
          </a:xfrm>
          <a:custGeom>
            <a:avLst/>
            <a:gdLst/>
            <a:ahLst/>
            <a:cxnLst/>
            <a:rect l="l" t="t" r="r" b="b"/>
            <a:pathLst>
              <a:path w="9920512" h="5691894">
                <a:moveTo>
                  <a:pt x="0" y="0"/>
                </a:moveTo>
                <a:lnTo>
                  <a:pt x="9920513" y="0"/>
                </a:lnTo>
                <a:lnTo>
                  <a:pt x="9920513" y="5691894"/>
                </a:lnTo>
                <a:lnTo>
                  <a:pt x="0" y="5691894"/>
                </a:lnTo>
                <a:lnTo>
                  <a:pt x="0" y="0"/>
                </a:lnTo>
                <a:close/>
              </a:path>
            </a:pathLst>
          </a:custGeom>
          <a:blipFill>
            <a:blip r:embed="rId4"/>
            <a:stretch>
              <a:fillRect/>
            </a:stretch>
          </a:blipFill>
        </p:spPr>
      </p:sp>
      <p:sp>
        <p:nvSpPr>
          <p:cNvPr id="5" name="TextBox 5"/>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6" name="TextBox 6"/>
          <p:cNvSpPr txBox="1"/>
          <p:nvPr/>
        </p:nvSpPr>
        <p:spPr>
          <a:xfrm>
            <a:off x="-32241" y="2710686"/>
            <a:ext cx="7671162" cy="4152900"/>
          </a:xfrm>
          <a:prstGeom prst="rect">
            <a:avLst/>
          </a:prstGeom>
        </p:spPr>
        <p:txBody>
          <a:bodyPr lIns="0" tIns="0" rIns="0" bIns="0" rtlCol="0" anchor="t">
            <a:spAutoFit/>
          </a:bodyPr>
          <a:lstStyle/>
          <a:p>
            <a:pPr marL="842010" lvl="1" indent="-421005" algn="just">
              <a:lnSpc>
                <a:spcPts val="6630"/>
              </a:lnSpc>
              <a:buFont typeface="Arial"/>
              <a:buChar char="•"/>
            </a:pPr>
            <a:r>
              <a:rPr lang="en-US" sz="3900">
                <a:solidFill>
                  <a:srgbClr val="000000"/>
                </a:solidFill>
                <a:latin typeface="Arial"/>
                <a:ea typeface="Arial"/>
                <a:cs typeface="Arial"/>
                <a:sym typeface="Arial"/>
              </a:rPr>
              <a:t>Thêm mới, Sửa thông tin, Xóa (Xóa mềm).</a:t>
            </a:r>
          </a:p>
          <a:p>
            <a:pPr marL="842010" lvl="1" indent="-421005" algn="just">
              <a:lnSpc>
                <a:spcPts val="6630"/>
              </a:lnSpc>
              <a:buFont typeface="Arial"/>
              <a:buChar char="•"/>
            </a:pPr>
            <a:r>
              <a:rPr lang="en-US" sz="3900">
                <a:solidFill>
                  <a:srgbClr val="000000"/>
                </a:solidFill>
                <a:latin typeface="Arial"/>
                <a:ea typeface="Arial"/>
                <a:cs typeface="Arial"/>
                <a:sym typeface="Arial"/>
              </a:rPr>
              <a:t>Phân quyền truy cập hệ thống (Admin/Nhân viên).</a:t>
            </a:r>
          </a:p>
          <a:p>
            <a:pPr marL="842010" lvl="1" indent="-421005" algn="just">
              <a:lnSpc>
                <a:spcPts val="6630"/>
              </a:lnSpc>
              <a:buFont typeface="Arial"/>
              <a:buChar char="•"/>
            </a:pPr>
            <a:r>
              <a:rPr lang="en-US" sz="3900">
                <a:solidFill>
                  <a:srgbClr val="000000"/>
                </a:solidFill>
                <a:latin typeface="Arial"/>
                <a:ea typeface="Arial"/>
                <a:cs typeface="Arial"/>
                <a:sym typeface="Arial"/>
              </a:rPr>
              <a:t>Bảo mật thông tin đăng nhập.</a:t>
            </a:r>
          </a:p>
        </p:txBody>
      </p:sp>
      <p:sp>
        <p:nvSpPr>
          <p:cNvPr id="7" name="TextBox 7"/>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12</a:t>
            </a:r>
          </a:p>
        </p:txBody>
      </p:sp>
      <p:sp>
        <p:nvSpPr>
          <p:cNvPr id="8" name="TextBox 8"/>
          <p:cNvSpPr txBox="1"/>
          <p:nvPr/>
        </p:nvSpPr>
        <p:spPr>
          <a:xfrm>
            <a:off x="283426" y="1664841"/>
            <a:ext cx="10904343"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11. GIAO DIỆN QUẢN LÝ NHÂN VIÊN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8018610" y="2920236"/>
            <a:ext cx="9908821" cy="5747116"/>
          </a:xfrm>
          <a:custGeom>
            <a:avLst/>
            <a:gdLst/>
            <a:ahLst/>
            <a:cxnLst/>
            <a:rect l="l" t="t" r="r" b="b"/>
            <a:pathLst>
              <a:path w="9908821" h="5747116">
                <a:moveTo>
                  <a:pt x="0" y="0"/>
                </a:moveTo>
                <a:lnTo>
                  <a:pt x="9908821" y="0"/>
                </a:lnTo>
                <a:lnTo>
                  <a:pt x="9908821" y="5747116"/>
                </a:lnTo>
                <a:lnTo>
                  <a:pt x="0" y="5747116"/>
                </a:lnTo>
                <a:lnTo>
                  <a:pt x="0" y="0"/>
                </a:lnTo>
                <a:close/>
              </a:path>
            </a:pathLst>
          </a:custGeom>
          <a:blipFill>
            <a:blip r:embed="rId4"/>
            <a:stretch>
              <a:fillRect/>
            </a:stretch>
          </a:blipFill>
        </p:spPr>
      </p:sp>
      <p:sp>
        <p:nvSpPr>
          <p:cNvPr id="5" name="TextBox 5"/>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6" name="TextBox 6"/>
          <p:cNvSpPr txBox="1"/>
          <p:nvPr/>
        </p:nvSpPr>
        <p:spPr>
          <a:xfrm>
            <a:off x="0" y="2710686"/>
            <a:ext cx="7695976" cy="6667498"/>
          </a:xfrm>
          <a:prstGeom prst="rect">
            <a:avLst/>
          </a:prstGeom>
        </p:spPr>
        <p:txBody>
          <a:bodyPr lIns="0" tIns="0" rIns="0" bIns="0" rtlCol="0" anchor="t">
            <a:spAutoFit/>
          </a:bodyPr>
          <a:lstStyle/>
          <a:p>
            <a:pPr marL="842016" lvl="1" indent="-421008" algn="just">
              <a:lnSpc>
                <a:spcPts val="6630"/>
              </a:lnSpc>
              <a:buFont typeface="Arial"/>
              <a:buChar char="•"/>
            </a:pPr>
            <a:r>
              <a:rPr lang="en-US" sz="3900">
                <a:solidFill>
                  <a:srgbClr val="000000"/>
                </a:solidFill>
                <a:latin typeface="Arial"/>
                <a:ea typeface="Arial"/>
                <a:cs typeface="Arial"/>
                <a:sym typeface="Arial"/>
              </a:rPr>
              <a:t>Giao diện thiết kế tối ưu cho thao tác nhanh.</a:t>
            </a:r>
          </a:p>
          <a:p>
            <a:pPr marL="842016" lvl="1" indent="-421008" algn="just">
              <a:lnSpc>
                <a:spcPts val="6630"/>
              </a:lnSpc>
              <a:buFont typeface="Arial"/>
              <a:buChar char="•"/>
            </a:pPr>
            <a:r>
              <a:rPr lang="en-US" sz="3900">
                <a:solidFill>
                  <a:srgbClr val="000000"/>
                </a:solidFill>
                <a:latin typeface="Arial"/>
                <a:ea typeface="Arial"/>
                <a:cs typeface="Arial"/>
                <a:sym typeface="Arial"/>
              </a:rPr>
              <a:t>Tự động tính toán tổng tiền, tiền thừa, giảm thiểu sai sót con người.</a:t>
            </a:r>
          </a:p>
          <a:p>
            <a:pPr marL="842016" lvl="1" indent="-421008" algn="just">
              <a:lnSpc>
                <a:spcPts val="6630"/>
              </a:lnSpc>
              <a:buFont typeface="Arial"/>
              <a:buChar char="•"/>
            </a:pPr>
            <a:r>
              <a:rPr lang="en-US" sz="3900">
                <a:solidFill>
                  <a:srgbClr val="000000"/>
                </a:solidFill>
                <a:latin typeface="Arial"/>
                <a:ea typeface="Arial"/>
                <a:cs typeface="Arial"/>
                <a:sym typeface="Arial"/>
              </a:rPr>
              <a:t>Cập nhật trừ kho tự động ngay khi đơn hàng được thanh toán</a:t>
            </a:r>
          </a:p>
          <a:p>
            <a:pPr algn="just">
              <a:lnSpc>
                <a:spcPts val="6630"/>
              </a:lnSpc>
            </a:pPr>
            <a:endParaRPr lang="en-US" sz="3900">
              <a:solidFill>
                <a:srgbClr val="000000"/>
              </a:solidFill>
              <a:latin typeface="Arial"/>
              <a:ea typeface="Arial"/>
              <a:cs typeface="Arial"/>
              <a:sym typeface="Arial"/>
            </a:endParaRPr>
          </a:p>
        </p:txBody>
      </p:sp>
      <p:sp>
        <p:nvSpPr>
          <p:cNvPr id="7" name="TextBox 7"/>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13</a:t>
            </a:r>
          </a:p>
        </p:txBody>
      </p:sp>
      <p:sp>
        <p:nvSpPr>
          <p:cNvPr id="8" name="TextBox 8"/>
          <p:cNvSpPr txBox="1"/>
          <p:nvPr/>
        </p:nvSpPr>
        <p:spPr>
          <a:xfrm>
            <a:off x="283426" y="1664841"/>
            <a:ext cx="10904343"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12. GIAO DIỆN BÁN HÀNG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8265650" y="2920236"/>
            <a:ext cx="9661780" cy="5579678"/>
          </a:xfrm>
          <a:custGeom>
            <a:avLst/>
            <a:gdLst/>
            <a:ahLst/>
            <a:cxnLst/>
            <a:rect l="l" t="t" r="r" b="b"/>
            <a:pathLst>
              <a:path w="9661780" h="5579678">
                <a:moveTo>
                  <a:pt x="0" y="0"/>
                </a:moveTo>
                <a:lnTo>
                  <a:pt x="9661781" y="0"/>
                </a:lnTo>
                <a:lnTo>
                  <a:pt x="9661781" y="5579678"/>
                </a:lnTo>
                <a:lnTo>
                  <a:pt x="0" y="5579678"/>
                </a:lnTo>
                <a:lnTo>
                  <a:pt x="0" y="0"/>
                </a:lnTo>
                <a:close/>
              </a:path>
            </a:pathLst>
          </a:custGeom>
          <a:blipFill>
            <a:blip r:embed="rId4"/>
            <a:stretch>
              <a:fillRect/>
            </a:stretch>
          </a:blipFill>
        </p:spPr>
      </p:sp>
      <p:sp>
        <p:nvSpPr>
          <p:cNvPr id="5" name="TextBox 5"/>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6" name="TextBox 6"/>
          <p:cNvSpPr txBox="1"/>
          <p:nvPr/>
        </p:nvSpPr>
        <p:spPr>
          <a:xfrm>
            <a:off x="0" y="2624961"/>
            <a:ext cx="7934841" cy="4991098"/>
          </a:xfrm>
          <a:prstGeom prst="rect">
            <a:avLst/>
          </a:prstGeom>
        </p:spPr>
        <p:txBody>
          <a:bodyPr lIns="0" tIns="0" rIns="0" bIns="0" rtlCol="0" anchor="t">
            <a:spAutoFit/>
          </a:bodyPr>
          <a:lstStyle/>
          <a:p>
            <a:pPr marL="842016" lvl="1" indent="-421008" algn="just">
              <a:lnSpc>
                <a:spcPts val="6630"/>
              </a:lnSpc>
              <a:buFont typeface="Arial"/>
              <a:buChar char="•"/>
            </a:pPr>
            <a:r>
              <a:rPr lang="en-US" sz="3900" b="1">
                <a:solidFill>
                  <a:srgbClr val="000000"/>
                </a:solidFill>
                <a:latin typeface="Arial Bold"/>
                <a:ea typeface="Arial Bold"/>
                <a:cs typeface="Arial Bold"/>
                <a:sym typeface="Arial Bold"/>
              </a:rPr>
              <a:t>Lưu vết giao dịch:</a:t>
            </a:r>
            <a:r>
              <a:rPr lang="en-US" sz="3900">
                <a:solidFill>
                  <a:srgbClr val="000000"/>
                </a:solidFill>
                <a:latin typeface="Arial"/>
                <a:ea typeface="Arial"/>
                <a:cs typeface="Arial"/>
                <a:sym typeface="Arial"/>
              </a:rPr>
              <a:t> Truy xuất lại chi tiết từng hóa đơn cũ.</a:t>
            </a:r>
          </a:p>
          <a:p>
            <a:pPr marL="842016" lvl="1" indent="-421008" algn="just">
              <a:lnSpc>
                <a:spcPts val="6630"/>
              </a:lnSpc>
              <a:buFont typeface="Arial"/>
              <a:buChar char="•"/>
            </a:pPr>
            <a:r>
              <a:rPr lang="en-US" sz="3900" b="1">
                <a:solidFill>
                  <a:srgbClr val="000000"/>
                </a:solidFill>
                <a:latin typeface="Arial Bold"/>
                <a:ea typeface="Arial Bold"/>
                <a:cs typeface="Arial Bold"/>
                <a:sym typeface="Arial Bold"/>
              </a:rPr>
              <a:t>Lưu giá:</a:t>
            </a:r>
            <a:r>
              <a:rPr lang="en-US" sz="3900">
                <a:solidFill>
                  <a:srgbClr val="000000"/>
                </a:solidFill>
                <a:latin typeface="Arial"/>
                <a:ea typeface="Arial"/>
                <a:cs typeface="Arial"/>
                <a:sym typeface="Arial"/>
              </a:rPr>
              <a:t> Lưu trữ giá bán tại thời điểm mua. </a:t>
            </a:r>
            <a:r>
              <a:rPr lang="en-US" sz="3900" i="1">
                <a:solidFill>
                  <a:srgbClr val="000000"/>
                </a:solidFill>
                <a:latin typeface="Arial Italics"/>
                <a:ea typeface="Arial Italics"/>
                <a:cs typeface="Arial Italics"/>
                <a:sym typeface="Arial Italics"/>
              </a:rPr>
              <a:t>(Khắc phục lỗi sai lệch doanh thu khi giá sản phẩm gốc thay đổi).</a:t>
            </a:r>
          </a:p>
        </p:txBody>
      </p:sp>
      <p:sp>
        <p:nvSpPr>
          <p:cNvPr id="7" name="TextBox 7"/>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14</a:t>
            </a:r>
          </a:p>
        </p:txBody>
      </p:sp>
      <p:sp>
        <p:nvSpPr>
          <p:cNvPr id="8" name="TextBox 8"/>
          <p:cNvSpPr txBox="1"/>
          <p:nvPr/>
        </p:nvSpPr>
        <p:spPr>
          <a:xfrm>
            <a:off x="283426" y="1664841"/>
            <a:ext cx="10904343"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13. GIAO DIỆN LỊCH SỬ ĐƠN HÀNG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Freeform 4"/>
          <p:cNvSpPr/>
          <p:nvPr/>
        </p:nvSpPr>
        <p:spPr>
          <a:xfrm>
            <a:off x="7999381" y="2834511"/>
            <a:ext cx="4200021" cy="2623314"/>
          </a:xfrm>
          <a:custGeom>
            <a:avLst/>
            <a:gdLst/>
            <a:ahLst/>
            <a:cxnLst/>
            <a:rect l="l" t="t" r="r" b="b"/>
            <a:pathLst>
              <a:path w="4200021" h="2623314">
                <a:moveTo>
                  <a:pt x="0" y="0"/>
                </a:moveTo>
                <a:lnTo>
                  <a:pt x="4200021" y="0"/>
                </a:lnTo>
                <a:lnTo>
                  <a:pt x="4200021" y="2623314"/>
                </a:lnTo>
                <a:lnTo>
                  <a:pt x="0" y="2623314"/>
                </a:lnTo>
                <a:lnTo>
                  <a:pt x="0" y="0"/>
                </a:lnTo>
                <a:close/>
              </a:path>
            </a:pathLst>
          </a:custGeom>
          <a:blipFill>
            <a:blip r:embed="rId4"/>
            <a:stretch>
              <a:fillRect/>
            </a:stretch>
          </a:blipFill>
        </p:spPr>
      </p:sp>
      <p:sp>
        <p:nvSpPr>
          <p:cNvPr id="5" name="Freeform 5"/>
          <p:cNvSpPr/>
          <p:nvPr/>
        </p:nvSpPr>
        <p:spPr>
          <a:xfrm>
            <a:off x="7999381" y="6308781"/>
            <a:ext cx="4026429" cy="3080057"/>
          </a:xfrm>
          <a:custGeom>
            <a:avLst/>
            <a:gdLst/>
            <a:ahLst/>
            <a:cxnLst/>
            <a:rect l="l" t="t" r="r" b="b"/>
            <a:pathLst>
              <a:path w="4026429" h="3080057">
                <a:moveTo>
                  <a:pt x="0" y="0"/>
                </a:moveTo>
                <a:lnTo>
                  <a:pt x="4026429" y="0"/>
                </a:lnTo>
                <a:lnTo>
                  <a:pt x="4026429" y="3080057"/>
                </a:lnTo>
                <a:lnTo>
                  <a:pt x="0" y="3080057"/>
                </a:lnTo>
                <a:lnTo>
                  <a:pt x="0" y="0"/>
                </a:lnTo>
                <a:close/>
              </a:path>
            </a:pathLst>
          </a:custGeom>
          <a:blipFill>
            <a:blip r:embed="rId5"/>
            <a:stretch>
              <a:fillRect l="-2391" t="-2187" r="-717" b="-3125"/>
            </a:stretch>
          </a:blipFill>
        </p:spPr>
      </p:sp>
      <p:sp>
        <p:nvSpPr>
          <p:cNvPr id="6" name="Freeform 6"/>
          <p:cNvSpPr/>
          <p:nvPr/>
        </p:nvSpPr>
        <p:spPr>
          <a:xfrm>
            <a:off x="13059279" y="2883563"/>
            <a:ext cx="4767747" cy="2780048"/>
          </a:xfrm>
          <a:custGeom>
            <a:avLst/>
            <a:gdLst/>
            <a:ahLst/>
            <a:cxnLst/>
            <a:rect l="l" t="t" r="r" b="b"/>
            <a:pathLst>
              <a:path w="4767747" h="2780048">
                <a:moveTo>
                  <a:pt x="0" y="0"/>
                </a:moveTo>
                <a:lnTo>
                  <a:pt x="4767747" y="0"/>
                </a:lnTo>
                <a:lnTo>
                  <a:pt x="4767747" y="2780048"/>
                </a:lnTo>
                <a:lnTo>
                  <a:pt x="0" y="2780048"/>
                </a:lnTo>
                <a:lnTo>
                  <a:pt x="0" y="0"/>
                </a:lnTo>
                <a:close/>
              </a:path>
            </a:pathLst>
          </a:custGeom>
          <a:blipFill>
            <a:blip r:embed="rId6"/>
            <a:stretch>
              <a:fillRect/>
            </a:stretch>
          </a:blipFill>
        </p:spPr>
      </p:sp>
      <p:sp>
        <p:nvSpPr>
          <p:cNvPr id="7" name="Freeform 7"/>
          <p:cNvSpPr/>
          <p:nvPr/>
        </p:nvSpPr>
        <p:spPr>
          <a:xfrm>
            <a:off x="13049754" y="6365931"/>
            <a:ext cx="4777272" cy="3022907"/>
          </a:xfrm>
          <a:custGeom>
            <a:avLst/>
            <a:gdLst/>
            <a:ahLst/>
            <a:cxnLst/>
            <a:rect l="l" t="t" r="r" b="b"/>
            <a:pathLst>
              <a:path w="4777272" h="3022907">
                <a:moveTo>
                  <a:pt x="0" y="0"/>
                </a:moveTo>
                <a:lnTo>
                  <a:pt x="4777272" y="0"/>
                </a:lnTo>
                <a:lnTo>
                  <a:pt x="4777272" y="3022907"/>
                </a:lnTo>
                <a:lnTo>
                  <a:pt x="0" y="3022907"/>
                </a:lnTo>
                <a:lnTo>
                  <a:pt x="0" y="0"/>
                </a:lnTo>
                <a:close/>
              </a:path>
            </a:pathLst>
          </a:custGeom>
          <a:blipFill>
            <a:blip r:embed="rId7"/>
            <a:stretch>
              <a:fillRect/>
            </a:stretch>
          </a:blipFill>
        </p:spPr>
      </p:sp>
      <p:sp>
        <p:nvSpPr>
          <p:cNvPr id="8" name="TextBox 8"/>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9" name="TextBox 9"/>
          <p:cNvSpPr txBox="1"/>
          <p:nvPr/>
        </p:nvSpPr>
        <p:spPr>
          <a:xfrm>
            <a:off x="0" y="2674013"/>
            <a:ext cx="7696200" cy="4152898"/>
          </a:xfrm>
          <a:prstGeom prst="rect">
            <a:avLst/>
          </a:prstGeom>
        </p:spPr>
        <p:txBody>
          <a:bodyPr wrap="square" lIns="0" tIns="0" rIns="0" bIns="0" rtlCol="0" anchor="t">
            <a:spAutoFit/>
          </a:bodyPr>
          <a:lstStyle/>
          <a:p>
            <a:pPr marL="842016" lvl="1" indent="-421008" algn="just">
              <a:lnSpc>
                <a:spcPts val="6630"/>
              </a:lnSpc>
              <a:buFont typeface="Arial"/>
              <a:buChar char="•"/>
            </a:pPr>
            <a:r>
              <a:rPr lang="en-US" sz="3900" spc="-187">
                <a:solidFill>
                  <a:srgbClr val="000000"/>
                </a:solidFill>
                <a:latin typeface="Arial"/>
                <a:ea typeface="Arial"/>
                <a:cs typeface="Arial"/>
                <a:sym typeface="Arial"/>
              </a:rPr>
              <a:t>Cảnh báo khi bỏ trống ô nhập liệu.</a:t>
            </a:r>
          </a:p>
          <a:p>
            <a:pPr marL="842016" lvl="1" indent="-421008" algn="just">
              <a:lnSpc>
                <a:spcPts val="6630"/>
              </a:lnSpc>
              <a:buFont typeface="Arial"/>
              <a:buChar char="•"/>
            </a:pPr>
            <a:r>
              <a:rPr lang="en-US" sz="3900">
                <a:solidFill>
                  <a:srgbClr val="000000"/>
                </a:solidFill>
                <a:latin typeface="Arial"/>
                <a:ea typeface="Arial"/>
                <a:cs typeface="Arial"/>
                <a:sym typeface="Arial"/>
              </a:rPr>
              <a:t>Cảnh báo khi số lượng tồn kho không đủ để bán.</a:t>
            </a:r>
          </a:p>
          <a:p>
            <a:pPr marL="842016" lvl="1" indent="-421008" algn="just">
              <a:lnSpc>
                <a:spcPts val="6630"/>
              </a:lnSpc>
              <a:buFont typeface="Arial"/>
              <a:buChar char="•"/>
            </a:pPr>
            <a:r>
              <a:rPr lang="en-US" sz="3900" spc="-117">
                <a:solidFill>
                  <a:srgbClr val="000000"/>
                </a:solidFill>
                <a:latin typeface="Arial"/>
                <a:ea typeface="Arial"/>
                <a:cs typeface="Arial"/>
                <a:sym typeface="Arial"/>
              </a:rPr>
              <a:t>Cảnh báo khi nhập sai giá tiền.</a:t>
            </a:r>
          </a:p>
          <a:p>
            <a:pPr marL="842016" lvl="1" indent="-421008" algn="just">
              <a:lnSpc>
                <a:spcPts val="6630"/>
              </a:lnSpc>
              <a:buFont typeface="Arial"/>
              <a:buChar char="•"/>
            </a:pPr>
            <a:r>
              <a:rPr lang="en-US" sz="3900" spc="-198">
                <a:solidFill>
                  <a:srgbClr val="000000"/>
                </a:solidFill>
                <a:latin typeface="Arial"/>
                <a:ea typeface="Arial"/>
                <a:cs typeface="Arial"/>
                <a:sym typeface="Arial"/>
              </a:rPr>
              <a:t>Cảnh báo khi nhập sai số lượng.</a:t>
            </a:r>
          </a:p>
        </p:txBody>
      </p:sp>
      <p:sp>
        <p:nvSpPr>
          <p:cNvPr id="10" name="TextBox 10"/>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15</a:t>
            </a:r>
          </a:p>
        </p:txBody>
      </p:sp>
      <p:sp>
        <p:nvSpPr>
          <p:cNvPr id="11" name="TextBox 11"/>
          <p:cNvSpPr txBox="1"/>
          <p:nvPr/>
        </p:nvSpPr>
        <p:spPr>
          <a:xfrm>
            <a:off x="283426" y="1664841"/>
            <a:ext cx="10904343"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14. XỬ LÝ TRÙNG LẶP &amp; LOGIC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51982" y="2710686"/>
            <a:ext cx="17927431" cy="6667498"/>
          </a:xfrm>
          <a:prstGeom prst="rect">
            <a:avLst/>
          </a:prstGeom>
        </p:spPr>
        <p:txBody>
          <a:bodyPr lIns="0" tIns="0" rIns="0" bIns="0" rtlCol="0" anchor="t">
            <a:spAutoFit/>
          </a:bodyPr>
          <a:lstStyle/>
          <a:p>
            <a:pPr marL="842016" lvl="1" indent="-421008" algn="just">
              <a:lnSpc>
                <a:spcPts val="6630"/>
              </a:lnSpc>
              <a:buFont typeface="Arial"/>
              <a:buChar char="•"/>
            </a:pPr>
            <a:r>
              <a:rPr lang="en-US" sz="3900" spc="-58">
                <a:solidFill>
                  <a:srgbClr val="000000"/>
                </a:solidFill>
                <a:latin typeface="Arial"/>
                <a:ea typeface="Arial"/>
                <a:cs typeface="Arial"/>
                <a:sym typeface="Arial"/>
              </a:rPr>
              <a:t>Phần mềm phụ thuộc vào môi trường cài đặt trên máy tính, gây khó khăn cho việc truy cập dữ liệu từ xa khi người quản lý không có mặt tại cửa hàng.</a:t>
            </a:r>
          </a:p>
          <a:p>
            <a:pPr marL="842016" lvl="1" indent="-421008" algn="just">
              <a:lnSpc>
                <a:spcPts val="6630"/>
              </a:lnSpc>
              <a:buFont typeface="Arial"/>
              <a:buChar char="•"/>
            </a:pPr>
            <a:r>
              <a:rPr lang="en-US" sz="3900">
                <a:solidFill>
                  <a:srgbClr val="000000"/>
                </a:solidFill>
                <a:latin typeface="Arial"/>
                <a:ea typeface="Arial"/>
                <a:cs typeface="Arial"/>
                <a:sym typeface="Arial"/>
              </a:rPr>
              <a:t>Chưa hỗ trợ thanh toán đa phương thức (Ví điện tử, Thẻ tín dụng).</a:t>
            </a:r>
          </a:p>
          <a:p>
            <a:pPr marL="842016" lvl="1" indent="-421008" algn="just">
              <a:lnSpc>
                <a:spcPts val="6630"/>
              </a:lnSpc>
              <a:buFont typeface="Arial"/>
              <a:buChar char="•"/>
            </a:pPr>
            <a:r>
              <a:rPr lang="en-US" sz="3900">
                <a:solidFill>
                  <a:srgbClr val="000000"/>
                </a:solidFill>
                <a:latin typeface="Arial"/>
                <a:ea typeface="Arial"/>
                <a:cs typeface="Arial"/>
                <a:sym typeface="Arial"/>
              </a:rPr>
              <a:t>Chưa tích hợp sâu với các thiết bị ngoại vi chuyên dụng (máy quét mã vạch Barcode/QR, máy in hóa đơn tự động).</a:t>
            </a:r>
          </a:p>
          <a:p>
            <a:pPr marL="842016" lvl="1" indent="-421008" algn="just">
              <a:lnSpc>
                <a:spcPts val="6630"/>
              </a:lnSpc>
              <a:buFont typeface="Arial"/>
              <a:buChar char="•"/>
            </a:pPr>
            <a:r>
              <a:rPr lang="en-US" sz="3900">
                <a:solidFill>
                  <a:srgbClr val="000000"/>
                </a:solidFill>
                <a:latin typeface="Arial"/>
                <a:ea typeface="Arial"/>
                <a:cs typeface="Arial"/>
                <a:sym typeface="Arial"/>
              </a:rPr>
              <a:t>Hệ thống thiếu các biểu đồ trực quan để hỗ trợ người quản lý có cái nhìn tổng quan về xu hướng kinh doanh, từ đó đưa ra các quyết định nhập hàng/khuyến mãi chính xác hơn.</a:t>
            </a:r>
          </a:p>
        </p:txBody>
      </p:sp>
      <p:sp>
        <p:nvSpPr>
          <p:cNvPr id="6" name="TextBox 6"/>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16</a:t>
            </a:r>
          </a:p>
        </p:txBody>
      </p:sp>
      <p:sp>
        <p:nvSpPr>
          <p:cNvPr id="7" name="TextBox 7"/>
          <p:cNvSpPr txBox="1"/>
          <p:nvPr/>
        </p:nvSpPr>
        <p:spPr>
          <a:xfrm>
            <a:off x="283426" y="1664841"/>
            <a:ext cx="10904343"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PHẠM VI &amp; HẠN CHẾ</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0" y="2501136"/>
            <a:ext cx="17259300" cy="4991098"/>
          </a:xfrm>
          <a:prstGeom prst="rect">
            <a:avLst/>
          </a:prstGeom>
        </p:spPr>
        <p:txBody>
          <a:bodyPr lIns="0" tIns="0" rIns="0" bIns="0" rtlCol="0" anchor="t">
            <a:spAutoFit/>
          </a:bodyPr>
          <a:lstStyle/>
          <a:p>
            <a:pPr marL="842016" lvl="1" indent="-421008" algn="just">
              <a:lnSpc>
                <a:spcPts val="6630"/>
              </a:lnSpc>
              <a:buFont typeface="Arial"/>
              <a:buChar char="•"/>
            </a:pPr>
            <a:r>
              <a:rPr lang="en-US" sz="3900">
                <a:solidFill>
                  <a:srgbClr val="000000"/>
                </a:solidFill>
                <a:latin typeface="Arial"/>
                <a:ea typeface="Arial"/>
                <a:cs typeface="Arial"/>
                <a:sym typeface="Arial"/>
              </a:rPr>
              <a:t>Về quy trình: Đã tin học hóa thành công toàn bộ quy trình bán hàng thủ công sang quản lý trên phần mềm.</a:t>
            </a:r>
          </a:p>
          <a:p>
            <a:pPr marL="842016" lvl="1" indent="-421008" algn="just">
              <a:lnSpc>
                <a:spcPts val="6630"/>
              </a:lnSpc>
              <a:buFont typeface="Arial"/>
              <a:buChar char="•"/>
            </a:pPr>
            <a:r>
              <a:rPr lang="en-US" sz="3900">
                <a:solidFill>
                  <a:srgbClr val="000000"/>
                </a:solidFill>
                <a:latin typeface="Arial"/>
                <a:ea typeface="Arial"/>
                <a:cs typeface="Arial"/>
                <a:sym typeface="Arial"/>
              </a:rPr>
              <a:t>Về kỹ thuật: Xây dựng hệ thống ổn định, đáp ứng các tiêu chuẩn về toàn vẹn dữ liệu và xử lý ngoại lệ tốt.</a:t>
            </a:r>
          </a:p>
          <a:p>
            <a:pPr marL="842016" lvl="1" indent="-421008" algn="just">
              <a:lnSpc>
                <a:spcPts val="6630"/>
              </a:lnSpc>
              <a:buFont typeface="Arial"/>
              <a:buChar char="•"/>
            </a:pPr>
            <a:r>
              <a:rPr lang="en-US" sz="3900">
                <a:solidFill>
                  <a:srgbClr val="000000"/>
                </a:solidFill>
                <a:latin typeface="Arial"/>
                <a:ea typeface="Arial"/>
                <a:cs typeface="Arial"/>
                <a:sym typeface="Arial"/>
              </a:rPr>
              <a:t>Khả năng ứng dụng: Phần mềm đã sẵn sàng để triển khai thử nghiệm cho các mô hình kinh doanh quy mô vừa và nhỏ.</a:t>
            </a:r>
          </a:p>
        </p:txBody>
      </p:sp>
      <p:sp>
        <p:nvSpPr>
          <p:cNvPr id="6" name="TextBox 6"/>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17</a:t>
            </a:r>
          </a:p>
        </p:txBody>
      </p:sp>
      <p:sp>
        <p:nvSpPr>
          <p:cNvPr id="7" name="TextBox 7"/>
          <p:cNvSpPr txBox="1"/>
          <p:nvPr/>
        </p:nvSpPr>
        <p:spPr>
          <a:xfrm>
            <a:off x="283426" y="1664841"/>
            <a:ext cx="10904343"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KẾT LUẬN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86415" y="2377311"/>
            <a:ext cx="17927431" cy="7689341"/>
          </a:xfrm>
          <a:prstGeom prst="rect">
            <a:avLst/>
          </a:prstGeom>
        </p:spPr>
        <p:txBody>
          <a:bodyPr lIns="0" tIns="0" rIns="0" bIns="0" rtlCol="0" anchor="t">
            <a:spAutoFit/>
          </a:bodyPr>
          <a:lstStyle/>
          <a:p>
            <a:pPr marL="842016" lvl="1" indent="-421008" algn="just">
              <a:lnSpc>
                <a:spcPts val="6084"/>
              </a:lnSpc>
              <a:buFont typeface="Arial"/>
              <a:buChar char="•"/>
            </a:pPr>
            <a:r>
              <a:rPr lang="en-US" sz="3900" b="1">
                <a:solidFill>
                  <a:srgbClr val="000000"/>
                </a:solidFill>
                <a:latin typeface="Arial Bold"/>
                <a:ea typeface="Arial Bold"/>
                <a:cs typeface="Arial Bold"/>
                <a:sym typeface="Arial Bold"/>
              </a:rPr>
              <a:t>Chuyển đổi sang mô hình Client-Server hiện đại:</a:t>
            </a:r>
            <a:r>
              <a:rPr lang="en-US" sz="3900">
                <a:solidFill>
                  <a:srgbClr val="000000"/>
                </a:solidFill>
                <a:latin typeface="Arial"/>
                <a:ea typeface="Arial"/>
                <a:cs typeface="Arial"/>
                <a:sym typeface="Arial"/>
              </a:rPr>
              <a:t> Nghiên cứu tách phần xử lý dữ liệu thành Web API (ASP.NET Core). Điều này sẽ cho phép phát triển đa dạng các Client (Web App, Mobile App).</a:t>
            </a:r>
          </a:p>
          <a:p>
            <a:pPr marL="842016" lvl="1" indent="-421008" algn="just">
              <a:lnSpc>
                <a:spcPts val="6084"/>
              </a:lnSpc>
              <a:buFont typeface="Arial"/>
              <a:buChar char="•"/>
            </a:pPr>
            <a:r>
              <a:rPr lang="en-US" sz="3900" b="1">
                <a:solidFill>
                  <a:srgbClr val="000000"/>
                </a:solidFill>
                <a:latin typeface="Arial Bold"/>
                <a:ea typeface="Arial Bold"/>
                <a:cs typeface="Arial Bold"/>
                <a:sym typeface="Arial Bold"/>
              </a:rPr>
              <a:t>Tích hợp hệ sinh thái phần cứng:</a:t>
            </a:r>
            <a:r>
              <a:rPr lang="en-US" sz="3900">
                <a:solidFill>
                  <a:srgbClr val="000000"/>
                </a:solidFill>
                <a:latin typeface="Arial"/>
                <a:ea typeface="Arial"/>
                <a:cs typeface="Arial"/>
                <a:sym typeface="Arial"/>
              </a:rPr>
              <a:t> Bổ sung module giao tiếp với máy quét mã vạch để tự động nhận diện sản phẩm khi bán hàng, và kết nối máy in nhiệt để in hóa đơn.</a:t>
            </a:r>
          </a:p>
          <a:p>
            <a:pPr marL="842016" lvl="1" indent="-421008" algn="just">
              <a:lnSpc>
                <a:spcPts val="6084"/>
              </a:lnSpc>
              <a:buFont typeface="Arial"/>
              <a:buChar char="•"/>
            </a:pPr>
            <a:r>
              <a:rPr lang="en-US" sz="3900" b="1">
                <a:solidFill>
                  <a:srgbClr val="000000"/>
                </a:solidFill>
                <a:latin typeface="Arial Bold"/>
                <a:ea typeface="Arial Bold"/>
                <a:cs typeface="Arial Bold"/>
                <a:sym typeface="Arial Bold"/>
              </a:rPr>
              <a:t>Đa dạng hóa phương thức thanh toán:</a:t>
            </a:r>
            <a:r>
              <a:rPr lang="en-US" sz="3900">
                <a:solidFill>
                  <a:srgbClr val="000000"/>
                </a:solidFill>
                <a:latin typeface="Arial"/>
                <a:ea typeface="Arial"/>
                <a:cs typeface="Arial"/>
                <a:sym typeface="Arial"/>
              </a:rPr>
              <a:t> Tích hợp API của các đơn vị trung gian thanh toán để tự động xác nhận giao dịch chuyển khoản ngân hàng.</a:t>
            </a:r>
          </a:p>
          <a:p>
            <a:pPr marL="842016" lvl="1" indent="-421008" algn="just">
              <a:lnSpc>
                <a:spcPts val="6084"/>
              </a:lnSpc>
              <a:buFont typeface="Arial"/>
              <a:buChar char="•"/>
            </a:pPr>
            <a:r>
              <a:rPr lang="en-US" sz="3900" b="1">
                <a:solidFill>
                  <a:srgbClr val="000000"/>
                </a:solidFill>
                <a:latin typeface="Arial Bold"/>
                <a:ea typeface="Arial Bold"/>
                <a:cs typeface="Arial Bold"/>
                <a:sym typeface="Arial Bold"/>
              </a:rPr>
              <a:t>Sử dụng thư viện biểu đồ:</a:t>
            </a:r>
            <a:r>
              <a:rPr lang="en-US" sz="3900">
                <a:solidFill>
                  <a:srgbClr val="000000"/>
                </a:solidFill>
                <a:latin typeface="Arial"/>
                <a:ea typeface="Arial"/>
                <a:cs typeface="Arial"/>
                <a:sym typeface="Arial"/>
              </a:rPr>
              <a:t> trực quan hóa doanh thu theo thời gian thực, so sánh tăng trưởng giữa các tháng, và hiển thị sản phẩm bán chạy.</a:t>
            </a:r>
          </a:p>
        </p:txBody>
      </p:sp>
      <p:sp>
        <p:nvSpPr>
          <p:cNvPr id="6" name="TextBox 6"/>
          <p:cNvSpPr txBox="1"/>
          <p:nvPr/>
        </p:nvSpPr>
        <p:spPr>
          <a:xfrm>
            <a:off x="17259300" y="372044"/>
            <a:ext cx="668131" cy="574331"/>
          </a:xfrm>
          <a:prstGeom prst="rect">
            <a:avLst/>
          </a:prstGeom>
        </p:spPr>
        <p:txBody>
          <a:bodyPr lIns="0" tIns="0" rIns="0" bIns="0" rtlCol="0" anchor="t">
            <a:spAutoFit/>
          </a:bodyPr>
          <a:lstStyle/>
          <a:p>
            <a:pPr algn="ctr">
              <a:lnSpc>
                <a:spcPts val="4568"/>
              </a:lnSpc>
              <a:spcBef>
                <a:spcPct val="0"/>
              </a:spcBef>
            </a:pPr>
            <a:r>
              <a:rPr lang="en-US" sz="3263" b="1">
                <a:solidFill>
                  <a:srgbClr val="053484"/>
                </a:solidFill>
                <a:latin typeface="Arial Bold"/>
                <a:ea typeface="Arial Bold"/>
                <a:cs typeface="Arial Bold"/>
                <a:sym typeface="Arial Bold"/>
              </a:rPr>
              <a:t>18</a:t>
            </a:r>
          </a:p>
        </p:txBody>
      </p:sp>
      <p:sp>
        <p:nvSpPr>
          <p:cNvPr id="7" name="TextBox 7"/>
          <p:cNvSpPr txBox="1"/>
          <p:nvPr/>
        </p:nvSpPr>
        <p:spPr>
          <a:xfrm>
            <a:off x="283426" y="1664841"/>
            <a:ext cx="10904343" cy="731520"/>
          </a:xfrm>
          <a:prstGeom prst="rect">
            <a:avLst/>
          </a:prstGeom>
        </p:spPr>
        <p:txBody>
          <a:bodyPr lIns="0" tIns="0" rIns="0" bIns="0" rtlCol="0" anchor="t">
            <a:spAutoFit/>
          </a:bodyPr>
          <a:lstStyle/>
          <a:p>
            <a:pPr algn="l">
              <a:lnSpc>
                <a:spcPts val="5880"/>
              </a:lnSpc>
              <a:spcBef>
                <a:spcPct val="0"/>
              </a:spcBef>
            </a:pPr>
            <a:r>
              <a:rPr lang="en-US" sz="4200" b="1">
                <a:solidFill>
                  <a:srgbClr val="DC2323"/>
                </a:solidFill>
                <a:latin typeface="Arial Bold"/>
                <a:ea typeface="Arial Bold"/>
                <a:cs typeface="Arial Bold"/>
                <a:sym typeface="Arial Bold"/>
              </a:rPr>
              <a:t>HƯỚNG PHÁT TRIỂN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716" y="1425315"/>
            <a:ext cx="18288000" cy="0"/>
          </a:xfrm>
          <a:prstGeom prst="line">
            <a:avLst/>
          </a:prstGeom>
          <a:ln w="38100" cap="flat">
            <a:solidFill>
              <a:srgbClr val="000000"/>
            </a:solidFill>
            <a:prstDash val="solid"/>
            <a:headEnd type="none" w="sm" len="sm"/>
            <a:tailEnd type="none" w="sm" len="sm"/>
          </a:ln>
        </p:spPr>
      </p:sp>
      <p:sp>
        <p:nvSpPr>
          <p:cNvPr id="3" name="Freeform 3"/>
          <p:cNvSpPr/>
          <p:nvPr/>
        </p:nvSpPr>
        <p:spPr>
          <a:xfrm>
            <a:off x="169126" y="169329"/>
            <a:ext cx="1065485" cy="1065485"/>
          </a:xfrm>
          <a:custGeom>
            <a:avLst/>
            <a:gdLst/>
            <a:ahLst/>
            <a:cxnLst/>
            <a:rect l="l" t="t" r="r" b="b"/>
            <a:pathLst>
              <a:path w="1065485" h="1065485">
                <a:moveTo>
                  <a:pt x="0" y="0"/>
                </a:moveTo>
                <a:lnTo>
                  <a:pt x="1065485" y="0"/>
                </a:lnTo>
                <a:lnTo>
                  <a:pt x="1065485" y="1065486"/>
                </a:lnTo>
                <a:lnTo>
                  <a:pt x="0" y="1065486"/>
                </a:lnTo>
                <a:lnTo>
                  <a:pt x="0" y="0"/>
                </a:lnTo>
                <a:close/>
              </a:path>
            </a:pathLst>
          </a:custGeom>
          <a:blipFill>
            <a:blip r:embed="rId3"/>
            <a:stretch>
              <a:fillRect/>
            </a:stretch>
          </a:blipFill>
        </p:spPr>
      </p:sp>
      <p:sp>
        <p:nvSpPr>
          <p:cNvPr id="4" name="TextBox 4"/>
          <p:cNvSpPr txBox="1"/>
          <p:nvPr/>
        </p:nvSpPr>
        <p:spPr>
          <a:xfrm>
            <a:off x="1454791" y="391822"/>
            <a:ext cx="14913885" cy="574331"/>
          </a:xfrm>
          <a:prstGeom prst="rect">
            <a:avLst/>
          </a:prstGeom>
        </p:spPr>
        <p:txBody>
          <a:bodyPr lIns="0" tIns="0" rIns="0" bIns="0" rtlCol="0" anchor="t">
            <a:spAutoFit/>
          </a:bodyPr>
          <a:lstStyle/>
          <a:p>
            <a:pPr algn="l">
              <a:lnSpc>
                <a:spcPts val="4568"/>
              </a:lnSpc>
              <a:spcBef>
                <a:spcPct val="0"/>
              </a:spcBef>
            </a:pPr>
            <a:r>
              <a:rPr lang="en-US" sz="3263" b="1">
                <a:solidFill>
                  <a:srgbClr val="053484"/>
                </a:solidFill>
                <a:latin typeface="Arial Bold"/>
                <a:ea typeface="Arial Bold"/>
                <a:cs typeface="Arial Bold"/>
                <a:sym typeface="Arial Bold"/>
              </a:rPr>
              <a:t>TRƯỜNG KỸ THUẬT VÀ CÔNG NGHỆ - KHOA CÔNG NGHỆ THÔNG TIN</a:t>
            </a:r>
          </a:p>
        </p:txBody>
      </p:sp>
      <p:sp>
        <p:nvSpPr>
          <p:cNvPr id="5" name="TextBox 5"/>
          <p:cNvSpPr txBox="1"/>
          <p:nvPr/>
        </p:nvSpPr>
        <p:spPr>
          <a:xfrm>
            <a:off x="1829088" y="2122969"/>
            <a:ext cx="14165292" cy="5317162"/>
          </a:xfrm>
          <a:prstGeom prst="rect">
            <a:avLst/>
          </a:prstGeom>
        </p:spPr>
        <p:txBody>
          <a:bodyPr lIns="0" tIns="0" rIns="0" bIns="0" rtlCol="0" anchor="t">
            <a:spAutoFit/>
          </a:bodyPr>
          <a:lstStyle/>
          <a:p>
            <a:pPr algn="ctr">
              <a:lnSpc>
                <a:spcPts val="14053"/>
              </a:lnSpc>
            </a:pPr>
            <a:r>
              <a:rPr lang="en-US" sz="10037" b="1">
                <a:solidFill>
                  <a:srgbClr val="DC2323"/>
                </a:solidFill>
                <a:latin typeface="Arial Bold"/>
                <a:ea typeface="Arial Bold"/>
                <a:cs typeface="Arial Bold"/>
                <a:sym typeface="Arial Bold"/>
              </a:rPr>
              <a:t>XIN CHÂN THÀNH</a:t>
            </a:r>
          </a:p>
          <a:p>
            <a:pPr algn="ctr">
              <a:lnSpc>
                <a:spcPts val="14053"/>
              </a:lnSpc>
            </a:pPr>
            <a:r>
              <a:rPr lang="en-US" sz="10037" b="1">
                <a:solidFill>
                  <a:srgbClr val="DC2323"/>
                </a:solidFill>
                <a:latin typeface="Arial Bold"/>
                <a:ea typeface="Arial Bold"/>
                <a:cs typeface="Arial Bold"/>
                <a:sym typeface="Arial Bold"/>
              </a:rPr>
              <a:t>CẢM ƠN THẦY</a:t>
            </a:r>
          </a:p>
          <a:p>
            <a:pPr algn="ctr">
              <a:lnSpc>
                <a:spcPts val="14053"/>
              </a:lnSpc>
              <a:spcBef>
                <a:spcPct val="0"/>
              </a:spcBef>
            </a:pPr>
            <a:r>
              <a:rPr lang="en-US" sz="10037" b="1">
                <a:solidFill>
                  <a:srgbClr val="DC2323"/>
                </a:solidFill>
                <a:latin typeface="Arial Bold"/>
                <a:ea typeface="Arial Bold"/>
                <a:cs typeface="Arial Bold"/>
                <a:sym typeface="Arial Bold"/>
              </a:rPr>
              <a:t>ĐÃ LẮNG NGHE!</a:t>
            </a:r>
          </a:p>
        </p:txBody>
      </p:sp>
      <p:sp>
        <p:nvSpPr>
          <p:cNvPr id="6" name="TextBox 6"/>
          <p:cNvSpPr txBox="1"/>
          <p:nvPr/>
        </p:nvSpPr>
        <p:spPr>
          <a:xfrm>
            <a:off x="2887561" y="7896185"/>
            <a:ext cx="12048346" cy="1171615"/>
          </a:xfrm>
          <a:prstGeom prst="rect">
            <a:avLst/>
          </a:prstGeom>
        </p:spPr>
        <p:txBody>
          <a:bodyPr lIns="0" tIns="0" rIns="0" bIns="0" rtlCol="0" anchor="t">
            <a:spAutoFit/>
          </a:bodyPr>
          <a:lstStyle/>
          <a:p>
            <a:pPr algn="ctr">
              <a:lnSpc>
                <a:spcPts val="9447"/>
              </a:lnSpc>
              <a:spcBef>
                <a:spcPct val="0"/>
              </a:spcBef>
            </a:pPr>
            <a:r>
              <a:rPr lang="en-US" sz="6748" b="1">
                <a:solidFill>
                  <a:srgbClr val="053484"/>
                </a:solidFill>
                <a:latin typeface="Arial Bold"/>
                <a:ea typeface="Arial Bold"/>
                <a:cs typeface="Arial Bold"/>
                <a:sym typeface="Arial Bold"/>
              </a:rPr>
              <a:t>TRÂN TRỌNG KÍNH CHÀO!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1581</Words>
  <Application>Microsoft Office PowerPoint</Application>
  <PresentationFormat>Custom</PresentationFormat>
  <Paragraphs>187</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Arial Bold</vt:lpstr>
      <vt:lpstr>Arial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hệ thống quản lý bán hàng</dc:title>
  <cp:lastModifiedBy>Nhựt Phạm</cp:lastModifiedBy>
  <cp:revision>5</cp:revision>
  <dcterms:created xsi:type="dcterms:W3CDTF">2006-08-16T00:00:00Z</dcterms:created>
  <dcterms:modified xsi:type="dcterms:W3CDTF">2026-01-04T18:32:12Z</dcterms:modified>
  <dc:identifier>DAG9dDcfFZU</dc:identifier>
</cp:coreProperties>
</file>